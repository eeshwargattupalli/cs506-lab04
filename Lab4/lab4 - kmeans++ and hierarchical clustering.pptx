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comments/modernComment_126_8A56AC62.xml" ContentType="application/vnd.ms-powerpoint.comments+xml"/>
  <Override PartName="/ppt/comments/modernComment_136_DA783C8E.xml" ContentType="application/vnd.ms-powerpoint.comment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2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3.xml" ContentType="application/vnd.openxmlformats-officedocument.presentationml.notesSlide+xml"/>
  <Override PartName="/ppt/comments/modernComment_143_290D164A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3"/>
  </p:notesMasterIdLst>
  <p:sldIdLst>
    <p:sldId id="256" r:id="rId2"/>
    <p:sldId id="258" r:id="rId3"/>
    <p:sldId id="257" r:id="rId4"/>
    <p:sldId id="259" r:id="rId5"/>
    <p:sldId id="260" r:id="rId6"/>
    <p:sldId id="328" r:id="rId7"/>
    <p:sldId id="266" r:id="rId8"/>
    <p:sldId id="343" r:id="rId9"/>
    <p:sldId id="345" r:id="rId10"/>
    <p:sldId id="344" r:id="rId11"/>
    <p:sldId id="346" r:id="rId12"/>
    <p:sldId id="267" r:id="rId13"/>
    <p:sldId id="268" r:id="rId14"/>
    <p:sldId id="34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8" r:id="rId24"/>
    <p:sldId id="277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1" r:id="rId37"/>
    <p:sldId id="290" r:id="rId38"/>
    <p:sldId id="336" r:id="rId39"/>
    <p:sldId id="337" r:id="rId40"/>
    <p:sldId id="339" r:id="rId41"/>
    <p:sldId id="338" r:id="rId42"/>
    <p:sldId id="340" r:id="rId43"/>
    <p:sldId id="341" r:id="rId44"/>
    <p:sldId id="342" r:id="rId45"/>
    <p:sldId id="361" r:id="rId46"/>
    <p:sldId id="362" r:id="rId47"/>
    <p:sldId id="363" r:id="rId48"/>
    <p:sldId id="365" r:id="rId49"/>
    <p:sldId id="364" r:id="rId50"/>
    <p:sldId id="366" r:id="rId51"/>
    <p:sldId id="292" r:id="rId52"/>
    <p:sldId id="294" r:id="rId53"/>
    <p:sldId id="301" r:id="rId54"/>
    <p:sldId id="302" r:id="rId55"/>
    <p:sldId id="303" r:id="rId56"/>
    <p:sldId id="304" r:id="rId57"/>
    <p:sldId id="295" r:id="rId58"/>
    <p:sldId id="296" r:id="rId59"/>
    <p:sldId id="297" r:id="rId60"/>
    <p:sldId id="298" r:id="rId61"/>
    <p:sldId id="299" r:id="rId62"/>
    <p:sldId id="300" r:id="rId63"/>
    <p:sldId id="348" r:id="rId64"/>
    <p:sldId id="329" r:id="rId65"/>
    <p:sldId id="305" r:id="rId66"/>
    <p:sldId id="306" r:id="rId67"/>
    <p:sldId id="307" r:id="rId68"/>
    <p:sldId id="308" r:id="rId69"/>
    <p:sldId id="309" r:id="rId70"/>
    <p:sldId id="310" r:id="rId71"/>
    <p:sldId id="313" r:id="rId72"/>
    <p:sldId id="318" r:id="rId73"/>
    <p:sldId id="314" r:id="rId74"/>
    <p:sldId id="315" r:id="rId75"/>
    <p:sldId id="316" r:id="rId76"/>
    <p:sldId id="317" r:id="rId77"/>
    <p:sldId id="349" r:id="rId78"/>
    <p:sldId id="331" r:id="rId79"/>
    <p:sldId id="332" r:id="rId80"/>
    <p:sldId id="333" r:id="rId81"/>
    <p:sldId id="334" r:id="rId82"/>
    <p:sldId id="335" r:id="rId83"/>
    <p:sldId id="350" r:id="rId84"/>
    <p:sldId id="351" r:id="rId85"/>
    <p:sldId id="352" r:id="rId86"/>
    <p:sldId id="353" r:id="rId87"/>
    <p:sldId id="354" r:id="rId88"/>
    <p:sldId id="355" r:id="rId89"/>
    <p:sldId id="356" r:id="rId90"/>
    <p:sldId id="357" r:id="rId91"/>
    <p:sldId id="358" r:id="rId92"/>
    <p:sldId id="359" r:id="rId93"/>
    <p:sldId id="360" r:id="rId94"/>
    <p:sldId id="319" r:id="rId95"/>
    <p:sldId id="321" r:id="rId96"/>
    <p:sldId id="322" r:id="rId97"/>
    <p:sldId id="323" r:id="rId98"/>
    <p:sldId id="324" r:id="rId99"/>
    <p:sldId id="325" r:id="rId100"/>
    <p:sldId id="330" r:id="rId101"/>
    <p:sldId id="311" r:id="rId10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04"/>
    </p:embeddedFont>
    <p:embeddedFont>
      <p:font typeface="Charmonman" pitchFamily="2" charset="-34"/>
      <p:regular r:id="rId105"/>
      <p:bold r:id="rId106"/>
    </p:embeddedFont>
    <p:embeddedFont>
      <p:font typeface="Open Sans" panose="020B0606030504020204" pitchFamily="34" charset="0"/>
      <p:regular r:id="rId107"/>
      <p:bold r:id="rId108"/>
      <p:italic r:id="rId109"/>
      <p:boldItalic r:id="rId110"/>
    </p:embeddedFont>
    <p:embeddedFont>
      <p:font typeface="PT Sans Narrow" panose="020B0506020203020204" pitchFamily="34" charset="77"/>
      <p:regular r:id="rId111"/>
      <p:bold r:id="rId111"/>
    </p:embeddedFont>
  </p:embeddedFontLst>
  <p:custDataLst>
    <p:tags r:id="rId11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FB71B5C-C160-F17B-ED32-C30F30E32A39}" name="Gattupalli, Eeshwar" initials="GE" userId="S::eeshwarg@bu.edu::85c70b28-1dd1-44af-b410-175c386fe1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09"/>
    <p:restoredTop sz="94726"/>
  </p:normalViewPr>
  <p:slideViewPr>
    <p:cSldViewPr snapToGrid="0">
      <p:cViewPr varScale="1">
        <p:scale>
          <a:sx n="140" d="100"/>
          <a:sy n="140" d="100"/>
        </p:scale>
        <p:origin x="208" y="5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microsoft.com/office/2018/10/relationships/authors" Target="author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gs" Target="tags/tag1.xml"/><Relationship Id="rId16" Type="http://schemas.openxmlformats.org/officeDocument/2006/relationships/slide" Target="slides/slide15.xml"/><Relationship Id="rId107" Type="http://schemas.openxmlformats.org/officeDocument/2006/relationships/font" Target="fonts/font4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108" Type="http://schemas.openxmlformats.org/officeDocument/2006/relationships/font" Target="fonts/font5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6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font" Target="fonts/font1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7.fntdata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8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font" Target="fonts/font3.fntdata"/></Relationships>
</file>

<file path=ppt/comments/modernComment_126_8A56AC6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2175224-4417-3E41-8B0D-E261896F52D8}" authorId="{AFB71B5C-C160-F17B-ED32-C30F30E32A39}" created="2026-02-11T23:20:44.001">
    <pc:sldMkLst xmlns:pc="http://schemas.microsoft.com/office/powerpoint/2013/main/command">
      <pc:docMk/>
      <pc:sldMk cId="2320936034" sldId="294"/>
    </pc:sldMkLst>
    <p188:txBody>
      <a:bodyPr/>
      <a:lstStyle/>
      <a:p>
        <a:r>
          <a:rPr lang="en-US"/>
          <a:t>Specify x and y correspond to axes</a:t>
        </a:r>
      </a:p>
    </p188:txBody>
  </p188:cm>
</p188:cmLst>
</file>

<file path=ppt/comments/modernComment_136_DA783C8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9DA027B-7047-484B-8FEF-2BB7505B6127}" authorId="{AFB71B5C-C160-F17B-ED32-C30F30E32A39}" created="2026-02-11T23:22:08.543">
    <pc:sldMkLst xmlns:pc="http://schemas.microsoft.com/office/powerpoint/2013/main/command">
      <pc:docMk/>
      <pc:sldMk cId="3665312910" sldId="310"/>
    </pc:sldMkLst>
    <p188:txBody>
      <a:bodyPr/>
      <a:lstStyle/>
      <a:p>
        <a:r>
          <a:rPr lang="en-US"/>
          <a:t>Talk about providence</a:t>
        </a:r>
      </a:p>
    </p188:txBody>
  </p188:cm>
</p188:cmLst>
</file>

<file path=ppt/comments/modernComment_143_290D164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BB117FA-25C2-544A-95C0-E1C04C96B093}" authorId="{AFB71B5C-C160-F17B-ED32-C30F30E32A39}" created="2026-02-06T17:18:06.454">
    <pc:sldMkLst xmlns:pc="http://schemas.microsoft.com/office/powerpoint/2013/main/command">
      <pc:docMk/>
      <pc:sldMk cId="688723530" sldId="323"/>
    </pc:sldMkLst>
    <p188:txBody>
      <a:bodyPr/>
      <a:lstStyle/>
      <a:p>
        <a:r>
          <a:rPr lang="en-US"/>
          <a:t>Need to finish table for this problem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Y-AXIS IS CLUSTER DISTANCE, X-AXIS represents each data point</a:t>
            </a:r>
          </a:p>
        </p:txBody>
      </p:sp>
    </p:spTree>
    <p:extLst>
      <p:ext uri="{BB962C8B-B14F-4D97-AF65-F5344CB8AC3E}">
        <p14:creationId xmlns:p14="http://schemas.microsoft.com/office/powerpoint/2010/main" val="2142258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equation: ctrl + option + =</a:t>
            </a:r>
          </a:p>
        </p:txBody>
      </p:sp>
    </p:spTree>
    <p:extLst>
      <p:ext uri="{BB962C8B-B14F-4D97-AF65-F5344CB8AC3E}">
        <p14:creationId xmlns:p14="http://schemas.microsoft.com/office/powerpoint/2010/main" val="1004265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3ABF-E719-4D89-9F45-791E5447C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9C196-C79D-1D19-A635-B985334C94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4AF1BA-7361-B31C-3630-446A95E70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equation: ctrl + option + =</a:t>
            </a:r>
          </a:p>
        </p:txBody>
      </p:sp>
    </p:spTree>
    <p:extLst>
      <p:ext uri="{BB962C8B-B14F-4D97-AF65-F5344CB8AC3E}">
        <p14:creationId xmlns:p14="http://schemas.microsoft.com/office/powerpoint/2010/main" val="2465744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DC6BD-F5A5-B1EC-5B00-826225938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7BD39-133E-C0A8-580F-D619674A8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FD6B0-0098-CD7B-4E37-46D636F35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equation: ctrl + option + =</a:t>
            </a:r>
          </a:p>
        </p:txBody>
      </p:sp>
    </p:spTree>
    <p:extLst>
      <p:ext uri="{BB962C8B-B14F-4D97-AF65-F5344CB8AC3E}">
        <p14:creationId xmlns:p14="http://schemas.microsoft.com/office/powerpoint/2010/main" val="1597973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9D402-602B-F585-6177-75F13F98D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4687A8-2B03-2D68-772B-E2618CB2F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4F6338-0574-A5B6-2740-8496B5974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equation: ctrl + option + =</a:t>
            </a:r>
          </a:p>
        </p:txBody>
      </p:sp>
    </p:spTree>
    <p:extLst>
      <p:ext uri="{BB962C8B-B14F-4D97-AF65-F5344CB8AC3E}">
        <p14:creationId xmlns:p14="http://schemas.microsoft.com/office/powerpoint/2010/main" val="404744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hyperlink" Target="https://www.slido.com/support/ppi/how-to-change-the-design" TargetMode="External"/><Relationship Id="rId5" Type="http://schemas.openxmlformats.org/officeDocument/2006/relationships/hyperlink" Target="https://www.slido.com/powerpoint-polling?utm_source=powerpoint&amp;utm_medium=placeholder-slide" TargetMode="External"/><Relationship Id="rId4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hyperlink" Target="https://www.slido.com/support/ppi/how-to-change-the-design" TargetMode="External"/><Relationship Id="rId5" Type="http://schemas.openxmlformats.org/officeDocument/2006/relationships/hyperlink" Target="https://www.slido.com/powerpoint-polling?utm_source=powerpoint&amp;utm_medium=placeholder-slide" TargetMode="External"/><Relationship Id="rId4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hyperlink" Target="https://www.slido.com/support/ppi/how-to-change-the-design" TargetMode="External"/><Relationship Id="rId5" Type="http://schemas.openxmlformats.org/officeDocument/2006/relationships/hyperlink" Target="https://www.slido.com/powerpoint-polling?utm_source=powerpoint&amp;utm_medium=placeholder-slide" TargetMode="External"/><Relationship Id="rId4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3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25.sv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0.svg"/><Relationship Id="rId11" Type="http://schemas.openxmlformats.org/officeDocument/2006/relationships/image" Target="../media/image24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2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6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25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10.svg"/><Relationship Id="rId11" Type="http://schemas.openxmlformats.org/officeDocument/2006/relationships/image" Target="../media/image24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2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9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25.sv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0.svg"/><Relationship Id="rId11" Type="http://schemas.openxmlformats.org/officeDocument/2006/relationships/image" Target="../media/image24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2.sv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22.xml"/><Relationship Id="rId7" Type="http://schemas.openxmlformats.org/officeDocument/2006/relationships/hyperlink" Target="https://www.slido.com/powerpoint-polling?utm_source=powerpoint&amp;utm_medium=placeholder-slide" TargetMode="Externa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hyperlink" Target="https://www.slido.com/support/ppi/how-to-change-the-design" TargetMode="Externa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microsoft.com/office/2018/10/relationships/comments" Target="../comments/modernComment_126_8A56AC62.xml"/><Relationship Id="rId4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36_DA783C8E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hyperlink" Target="https://www.slido.com/support/ppi/how-to-change-the-design" TargetMode="External"/><Relationship Id="rId5" Type="http://schemas.openxmlformats.org/officeDocument/2006/relationships/hyperlink" Target="https://www.slido.com/powerpoint-polling?utm_source=powerpoint&amp;utm_medium=placeholder-slide" TargetMode="External"/><Relationship Id="rId4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7.png"/><Relationship Id="rId7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7.png"/><Relationship Id="rId7" Type="http://schemas.openxmlformats.org/officeDocument/2006/relationships/image" Target="../media/image4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7.png"/><Relationship Id="rId7" Type="http://schemas.openxmlformats.org/officeDocument/2006/relationships/image" Target="../media/image4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3" Type="http://schemas.openxmlformats.org/officeDocument/2006/relationships/image" Target="../media/image37.png"/><Relationship Id="rId7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7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hyperlink" Target="https://www.slido.com/support/ppi/how-to-change-the-design" TargetMode="External"/><Relationship Id="rId5" Type="http://schemas.openxmlformats.org/officeDocument/2006/relationships/hyperlink" Target="https://www.slido.com/powerpoint-polling?utm_source=powerpoint&amp;utm_medium=placeholder-slide" TargetMode="External"/><Relationship Id="rId4" Type="http://schemas.openxmlformats.org/officeDocument/2006/relationships/slideLayout" Target="../slideLayouts/slideLayout10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hyperlink" Target="https://www.slido.com/support/ppi/how-to-change-the-design" TargetMode="External"/><Relationship Id="rId5" Type="http://schemas.openxmlformats.org/officeDocument/2006/relationships/hyperlink" Target="https://www.slido.com/powerpoint-polling?utm_source=powerpoint&amp;utm_medium=placeholder-slide" TargetMode="External"/><Relationship Id="rId4" Type="http://schemas.openxmlformats.org/officeDocument/2006/relationships/slideLayout" Target="../slideLayouts/slideLayout10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37.xml"/><Relationship Id="rId7" Type="http://schemas.openxmlformats.org/officeDocument/2006/relationships/hyperlink" Target="https://www.slido.com/powerpoint-polling?utm_source=powerpoint&amp;utm_medium=placeholder-slide" TargetMode="Externa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10.xml"/></Relationships>
</file>

<file path=ppt/slides/_rels/slide9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3_290D164A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Lab 4 - K-means++ and Hierarchical Clustering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CS 506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084194-2A54-8202-BC3A-F03F7391D77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239F5D-85C5-C5E8-1C11-DF5C284AF09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Is the following a possible output of K-means++ clustering?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EA0946-F88B-B53D-61D8-D76C8D907BD5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720304-F3DA-CAC9-AA0B-E7607FC5E995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326461B8-6305-8118-EE68-BE17B7B0EBB1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B3C24CF-AB27-F624-9014-311EA71C0E97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0467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FAD51-C70A-B608-10E0-D60A42482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K-means++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E16E3-621B-85B2-E936-A7D6904AE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K-means++ utilizes a different centroid initialization technique. Otherwise, it is the same as K-means!</a:t>
            </a:r>
          </a:p>
        </p:txBody>
      </p:sp>
    </p:spTree>
    <p:extLst>
      <p:ext uri="{BB962C8B-B14F-4D97-AF65-F5344CB8AC3E}">
        <p14:creationId xmlns:p14="http://schemas.microsoft.com/office/powerpoint/2010/main" val="1104499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2CC81-7171-E295-BC66-296BD2FBD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81480-C16C-4B79-9776-F09EB695C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K-means++ utilizes a different centroid initialization technique. Otherwise, it is the same as K-means!</a:t>
            </a:r>
          </a:p>
          <a:p>
            <a:pPr>
              <a:buFont typeface="+mj-lt"/>
              <a:buAutoNum type="arabicPeriod"/>
            </a:pPr>
            <a:r>
              <a:rPr lang="en-US" dirty="0"/>
              <a:t>Start with a random centroid</a:t>
            </a:r>
            <a:endParaRPr lang="en-US" b="0" dirty="0"/>
          </a:p>
          <a:p>
            <a:pPr>
              <a:buFont typeface="+mj-lt"/>
              <a:buAutoNum type="arabicPeriod"/>
            </a:pPr>
            <a:endParaRPr lang="en-US" b="0" dirty="0"/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763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FFE28-C91F-7B4A-7468-A3DCCC4D5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2DA0CC8-457F-DF6A-8E4F-E36EAEA732A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K-means++ utilizes a different centroid initialization technique. Otherwise, it is the same as K-means!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Start with a random centroid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 the distance between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the closest of the centers picked so far. Choose next center with probability proportional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2DA0CC8-457F-DF6A-8E4F-E36EAEA732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1032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ED0BE-EE43-4518-763F-39C770747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83D0B6B-DBF7-B8F8-CDBC-3ADAB2C54F4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K-means++ utilizes a different centroid initialization technique. Otherwise, it is the same as K-means!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Start with a random centroid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 the distance between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the closest of the centers picked so far. Choose next center with probability proportional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Do this step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times</a:t>
                </a:r>
              </a:p>
              <a:p>
                <a:pPr lvl="1"/>
                <a:endParaRPr lang="en-US" b="0" dirty="0"/>
              </a:p>
              <a:p>
                <a:pPr lvl="1"/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83D0B6B-DBF7-B8F8-CDBC-3ADAB2C54F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2827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BC08A-DAA9-B23F-1677-45DDDAE4D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933B42-F4E9-800B-61A3-6DAC8E0C7B8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K-means++ utilizes a different centroid initialization technique. Otherwise, it is the same as K-means!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Start with a random centroid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 the distance between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the closest of the centers picked so far. Choose next center with probability proportional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Do this step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times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is the next center picked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0" dirty="0"/>
                  <a:t> = set of all data points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933B42-F4E9-800B-61A3-6DAC8E0C7B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8256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536F5-A75A-DE9B-E7FC-482227EA3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1BB8920-0D6C-D7E4-AFC2-6AE7149C479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K-means++ utilizes a different centroid initialization technique. Otherwise, it is the same as K-means!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Start with a random centroid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 the distance between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the closest of the centers picked so far. Choose next center with probability proportional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Do this step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times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is the next center picked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0" dirty="0"/>
                  <a:t> = set of all data points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Assign each point in the dataset to its closest center</a:t>
                </a: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1BB8920-0D6C-D7E4-AFC2-6AE7149C47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3366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5BAEF-7D22-B9D5-C432-0A1E66382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FBE7AE5-AC26-91FA-2831-7EA78FB712E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K-means++ utilizes a different centroid initialization technique. Otherwise, it is the same as K-means!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Start with a random centroid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 the distance between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the closest of the centers picked so far. Choose next center with probability proportional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Do this step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times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is the next center picked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0" dirty="0"/>
                  <a:t> = set of all data points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Assign each point in the dataset to its closest center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Compute the new centers as the mean of each cluster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FBE7AE5-AC26-91FA-2831-7EA78FB712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621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EAE8A-0F0A-8D80-62A4-F884A4017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C1AE0A5-1031-7935-A048-8F41FCA06D2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K-means++ utilizes a different centroid initialization technique. Otherwise, it is the same as K-means!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Start with a random centroid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 the distance between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the closest of the centers picked so far. Choose next center with probability proportional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Do this step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times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is the next center picked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0" dirty="0"/>
                  <a:t> = set of all data points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Assign each point in the dataset to its closest center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Compute the new centers as the mean of each cluster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Repeat steps 3 &amp; 4 until convergence</a:t>
                </a:r>
              </a:p>
              <a:p>
                <a:pPr marL="596900" lvl="1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C1AE0A5-1031-7935-A048-8F41FCA06D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5927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2EA6D-9B78-8747-141D-997511529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8225958-7218-FA07-57D9-4E685B6B4B1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K-means++ utilizes a different centroid initialization technique. Otherwise, it is the same as K-means!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Start with a random centroid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 the distance between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the closest of the centers picked so far. Choose next center with probability proportional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Do this step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times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is the next center picked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0" dirty="0"/>
                  <a:t> = set of all data points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Assign each point in the dataset to its closest center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Compute the new centers as the mean of each cluster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Repeat steps 3 &amp; 4 until convergence</a:t>
                </a:r>
              </a:p>
              <a:p>
                <a:pPr marL="596900" lvl="1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8225958-7218-FA07-57D9-4E685B6B4B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94A7AF2-94C2-54C5-5493-3322E3E2B820}"/>
              </a:ext>
            </a:extLst>
          </p:cNvPr>
          <p:cNvSpPr txBox="1"/>
          <p:nvPr/>
        </p:nvSpPr>
        <p:spPr>
          <a:xfrm>
            <a:off x="376989" y="3488704"/>
            <a:ext cx="6360695" cy="92242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C28BFB-0511-077B-4F2D-4FC216256929}"/>
              </a:ext>
            </a:extLst>
          </p:cNvPr>
          <p:cNvSpPr txBox="1"/>
          <p:nvPr/>
        </p:nvSpPr>
        <p:spPr>
          <a:xfrm>
            <a:off x="5662862" y="4649235"/>
            <a:ext cx="3296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just K-means! (without the ++)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531A558-13BE-C01D-2B98-7131249C7A17}"/>
              </a:ext>
            </a:extLst>
          </p:cNvPr>
          <p:cNvCxnSpPr>
            <a:cxnSpLocks/>
          </p:cNvCxnSpPr>
          <p:nvPr/>
        </p:nvCxnSpPr>
        <p:spPr>
          <a:xfrm flipH="1" flipV="1">
            <a:off x="4732421" y="4459251"/>
            <a:ext cx="930441" cy="295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215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8D6137-BBB0-8B17-EE36-33DC0ADB52F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B5F86F-CE11-9A86-EFFC-410BEE190BB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To find the optimal number of clusters in K-means, we run K-means multiple times for different values of k then we pick the the one with the lowest cost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A5013E-7107-F8F3-BE3F-C76EBED869D7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2F54A18-7331-66B8-E8A1-97932724E37C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ADE13765-0CA0-66D3-F630-B5D03A76451B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6928EAD-7173-8BD2-9390-EF4CD569FE73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6223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5565-6826-000F-8597-F7F63F7E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would the lowest cost be?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D0EB3-E95B-6DD8-11F3-A7082B4B7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44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24E10-7961-8297-0F4B-F73D4A61A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1BA4-F60C-F38E-657A-8F67EDE17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would the lowest cost be?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8BF070C-8B4C-0977-7B63-01AED2305D9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The lowest cost will occur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. We can show this using the k-means cost function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8BF070C-8B4C-0977-7B63-01AED2305D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6577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EB486-5198-378A-11C3-108E4C89A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504ECCB-C8D9-C992-3C5C-52879CB0947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The lowest cost will occur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. We can show this using the k-means cost function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0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504ECCB-C8D9-C992-3C5C-52879CB094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682" b="-26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A56A8A5-765F-0823-70F0-4BD44DFDBFDA}"/>
              </a:ext>
            </a:extLst>
          </p:cNvPr>
          <p:cNvSpPr txBox="1"/>
          <p:nvPr/>
        </p:nvSpPr>
        <p:spPr>
          <a:xfrm>
            <a:off x="4114800" y="2117558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516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EB8F-498C-321E-FA77-6A39F2EC0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 this trivial?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8044D-76DA-060D-6923-91035599E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081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0F067-F51F-6D40-1208-3A0305DE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 this trivial?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BF2E30F-5754-A5C7-C1CD-225C43652BD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dirty="0"/>
                  <a:t> then every point has its own cluster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BF2E30F-5754-A5C7-C1CD-225C43652B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2127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EC244-A768-5633-E529-A79B678C7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599CE-7762-DDC7-CD80-52A938F38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 this trivial?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1E96FB4-B3BE-CEDC-322C-705241CFFC8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dirty="0"/>
                  <a:t> then every point has its own cluster</a:t>
                </a:r>
              </a:p>
              <a:p>
                <a:r>
                  <a:rPr lang="en-US" b="0" dirty="0"/>
                  <a:t>How are we supposed to detect trends </a:t>
                </a:r>
                <a:r>
                  <a:rPr lang="en-US" dirty="0"/>
                  <a:t>in our data if we aren’t even grouping data together?</a:t>
                </a: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1E96FB4-B3BE-CEDC-322C-705241CFFC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1098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C07D6-33F4-C09D-EA7B-0651E6E1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EEFE4-A246-FD1B-77CB-A8BF09431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 this trivial?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1D053-5FB4-C7F2-4AEE-73E303D8A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1130194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45E87-FD06-445F-899D-7F5AB45E9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methods for finding the optimal 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9B090-3366-A7BB-60FF-1AE942586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Iterate over different k’s and find the point of diminishing returns for cost vs. k</a:t>
            </a:r>
          </a:p>
        </p:txBody>
      </p:sp>
    </p:spTree>
    <p:extLst>
      <p:ext uri="{BB962C8B-B14F-4D97-AF65-F5344CB8AC3E}">
        <p14:creationId xmlns:p14="http://schemas.microsoft.com/office/powerpoint/2010/main" val="3104562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CFF7A-BA86-5954-FA81-D3325606E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FF156-2473-4195-25CD-5DD537E31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methods for finding the optimal 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10212-4DFF-14FB-A72D-D7B5B9973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Iterate over different k’s and find the point of diminishing returns for cost vs. k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empirical/domain-specific knowledge</a:t>
            </a:r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888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6634C-3CFC-F783-245E-32061663B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27D6C-54BA-A3A4-E227-A95704E89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methods for finding the optimal 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F81B1-87AE-0A3B-5C06-E5B25C578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Iterate over different k’s and find the point of diminishing returns for cost vs. k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empirical/domain-specific knowledge</a:t>
            </a:r>
          </a:p>
          <a:p>
            <a:pPr>
              <a:buFont typeface="+mj-lt"/>
              <a:buAutoNum type="arabicPeriod"/>
            </a:pPr>
            <a:r>
              <a:rPr lang="en-US" dirty="0"/>
              <a:t>Metric for evaluating a cluster output</a:t>
            </a:r>
          </a:p>
        </p:txBody>
      </p:sp>
    </p:spTree>
    <p:extLst>
      <p:ext uri="{BB962C8B-B14F-4D97-AF65-F5344CB8AC3E}">
        <p14:creationId xmlns:p14="http://schemas.microsoft.com/office/powerpoint/2010/main" val="1857134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E4DB2-A1F3-01FD-737C-884B62CD8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C077B-B26D-E2B5-D7A3-3C5FAC7C5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methods for finding the optimal 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ED7EF-5668-F990-6785-446909200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Iterate over different k’s and find the point of diminishing returns for cost vs. k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empirical/domain-specific knowledge</a:t>
            </a:r>
          </a:p>
          <a:p>
            <a:pPr>
              <a:buFont typeface="+mj-lt"/>
              <a:buAutoNum type="arabicPeriod"/>
            </a:pPr>
            <a:r>
              <a:rPr lang="en-US" dirty="0"/>
              <a:t>Metric for evaluating a cluster output</a:t>
            </a:r>
          </a:p>
          <a:p>
            <a:pPr lvl="1"/>
            <a:r>
              <a:rPr lang="en-US" dirty="0"/>
              <a:t>E.g., silhouette scores!</a:t>
            </a:r>
          </a:p>
        </p:txBody>
      </p:sp>
    </p:spTree>
    <p:extLst>
      <p:ext uri="{BB962C8B-B14F-4D97-AF65-F5344CB8AC3E}">
        <p14:creationId xmlns:p14="http://schemas.microsoft.com/office/powerpoint/2010/main" val="3640018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374A6-8372-B591-FA50-239848238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silhouette scores!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5DE5C8C-93B5-8F2F-3280-CAEF60C60DB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For each data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5DE5C8C-93B5-8F2F-3280-CAEF60C60D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4907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186E0-C719-0252-6A37-13F6AD324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9632045-AC6C-5F08-9108-96512C2D978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For each data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0" dirty="0"/>
              </a:p>
              <a:p>
                <a:pPr marL="5969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is the set of clusters in the space.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9632045-AC6C-5F08-9108-96512C2D97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85390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EBA04-EEE5-DF77-8D39-22340C47D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9A6A33D-3E8F-E5EF-617D-2F8A8DB46F6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For each data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0" dirty="0"/>
              </a:p>
              <a:p>
                <a:pPr marL="5969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is the set of clusters in the space.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“Find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 then take the mean of those distances. Repeat this for every cluster then take the minimum of those mean distances.”</a:t>
                </a:r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9A6A33D-3E8F-E5EF-617D-2F8A8DB46F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23413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FBC81-ED8F-2F9A-C6BF-B9442A350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FC9FDAF-6CAB-0693-12AF-C7AF3990851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For each data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0" dirty="0"/>
              </a:p>
              <a:p>
                <a:pPr marL="5969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is the set of clusters in the space.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the silhouette score for data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FC9FDAF-6CAB-0693-12AF-C7AF399085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7515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CA1CA-4C6B-7E7C-7527-9B5C911DB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interpret the silhouette score?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34BFD69-6875-D575-CEA7-C41286B7E13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The silhouette score tells us how well each point fits inside its cluster vs. how much it belongs to another cluster.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34BFD69-6875-D575-CEA7-C41286B7E1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9355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81AF8-749E-1986-CE5E-1CB55899B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4DA53-B7BE-E147-ED55-0EE6DD98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interpret the silhouette score?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C6A421F-1303-AA2D-4C7A-4FFE33238A0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The silhouette score tells us how well each point fits inside its cluster vs. how much it belongs to another cluster.</a:t>
                </a:r>
              </a:p>
              <a:p>
                <a:r>
                  <a:rPr lang="en-US" dirty="0"/>
                  <a:t>We can use a silhouette score plot or find the mean silhouette score over all data points to measure the goodness of fit for our model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C6A421F-1303-AA2D-4C7A-4FFE33238A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208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239B5F-CCC5-7017-8303-C5BB8F427DE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A4D4C0-1477-32B0-B054-453CA481BB8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does it mean if the silhouette score for a data point is close to 1?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806CDA-DA90-FF6E-7C3E-252759E4A01C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124D619-81A3-7A50-061D-ECBDAFDF5697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D27A2B8D-685F-E3A2-6289-C2FA18C39BCE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CE98707-B19A-64F0-FF6C-CE130CDEFABE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19996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34BBD-3534-A022-9CBB-7B8D9FB5F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silhouette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4BCF2AC-263E-C496-EB83-DC1AA360CE0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→1</m:t>
                    </m:r>
                  </m:oMath>
                </a14:m>
                <a:r>
                  <a:rPr lang="en-US" b="0" dirty="0"/>
                  <a:t>?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4BCF2AC-263E-C496-EB83-DC1AA360CE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5132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1EF9E-02CE-C381-545F-BC234112D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543CA-93DC-FF35-DF37-45AB736FA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silhouette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569BC7D-7CDD-6C31-E5A1-66457D1E527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→1</m:t>
                    </m:r>
                  </m:oMath>
                </a14:m>
                <a:r>
                  <a:rPr lang="en-US" b="0" dirty="0"/>
                  <a:t>?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?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569BC7D-7CDD-6C31-E5A1-66457D1E5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19729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4B473-60CA-6ADB-6230-E386A59C3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A1A2-DEB8-B9B4-41FF-0B064F801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silhouette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1C15C5D-1F40-1E94-2CCE-335BCC06184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→1</m:t>
                    </m:r>
                  </m:oMath>
                </a14:m>
                <a:r>
                  <a:rPr lang="en-US" b="0" dirty="0"/>
                  <a:t>?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1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1C15C5D-1F40-1E94-2CCE-335BCC0618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57150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1E3CF-1353-8A85-A6E6-FD52E3115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FC3BA-9F64-D747-7D46-7D7CC09F4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silhouette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26DD451-DAEB-8A96-A336-B5AF75A6B4A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→1</m:t>
                    </m:r>
                  </m:oMath>
                </a14:m>
                <a:r>
                  <a:rPr lang="en-US" b="0" dirty="0"/>
                  <a:t>?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1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?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26DD451-DAEB-8A96-A336-B5AF75A6B4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35241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28A5F-2804-CE6F-B3BD-3B232E525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C5550-D1FB-5B2D-3393-383E0A1A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silhouette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E9EDA49-BE5C-A8F2-8DBB-7F61051D84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→1</m:t>
                    </m:r>
                  </m:oMath>
                </a14:m>
                <a:r>
                  <a:rPr lang="en-US" b="0" dirty="0"/>
                  <a:t>?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1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?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E9EDA49-BE5C-A8F2-8DBB-7F61051D84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14203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E3F12-4498-3D8A-E73E-CC2AAEFBD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F0A8-CF4A-8DD2-AB83-EF10003B5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silhouette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8782CD8-977E-ED6E-62FC-A0EB13A81E0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→1</m:t>
                    </m:r>
                  </m:oMath>
                </a14:m>
                <a:r>
                  <a:rPr lang="en-US" b="0" dirty="0"/>
                  <a:t>?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1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?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→−1?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→?</m:t>
                          </m:r>
                        </m:lim>
                      </m:limLow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8782CD8-977E-ED6E-62FC-A0EB13A81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39652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C9E49-C2EC-3FD3-F4E7-BCD838A86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2D2D2-1775-31A1-C5B7-008F37518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silhouette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1C83BFD-D229-DBD6-5A93-FB79DCCCE4D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→1</m:t>
                    </m:r>
                  </m:oMath>
                </a14:m>
                <a:r>
                  <a:rPr lang="en-US" b="0" dirty="0"/>
                  <a:t>?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1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?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→−1?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1C83BFD-D229-DBD6-5A93-FB79DCCCE4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79377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FB6A-77D9-1DE6-4C79-5A352B9BD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Silhouette Score Plots</a:t>
            </a:r>
          </a:p>
        </p:txBody>
      </p:sp>
      <p:pic>
        <p:nvPicPr>
          <p:cNvPr id="5" name="Picture 4" descr="A group of graphs with different colors&#10;&#10;AI-generated content may be incorrect.">
            <a:extLst>
              <a:ext uri="{FF2B5EF4-FFF2-40B4-BE49-F238E27FC236}">
                <a16:creationId xmlns:a16="http://schemas.microsoft.com/office/drawing/2014/main" id="{BE362B05-0ACA-3668-8900-7050D1DAC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542" y="1152425"/>
            <a:ext cx="5520915" cy="380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6450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521AB-D2C9-E18A-C7D3-FAA4A5635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Silhouette Score Plots: Interpretation</a:t>
            </a:r>
          </a:p>
        </p:txBody>
      </p:sp>
      <p:pic>
        <p:nvPicPr>
          <p:cNvPr id="4" name="Picture 3" descr="A group of graphs with different colors&#10;&#10;AI-generated content may be incorrect.">
            <a:extLst>
              <a:ext uri="{FF2B5EF4-FFF2-40B4-BE49-F238E27FC236}">
                <a16:creationId xmlns:a16="http://schemas.microsoft.com/office/drawing/2014/main" id="{81845265-7DF1-01A8-8890-65F8637D81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428" b="48207"/>
          <a:stretch>
            <a:fillRect/>
          </a:stretch>
        </p:blipFill>
        <p:spPr>
          <a:xfrm>
            <a:off x="3183076" y="1152425"/>
            <a:ext cx="2777847" cy="295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811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A360F-657D-DC01-D3A8-CCF701B32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graphs with different colors&#10;&#10;AI-generated content may be incorrect.">
            <a:extLst>
              <a:ext uri="{FF2B5EF4-FFF2-40B4-BE49-F238E27FC236}">
                <a16:creationId xmlns:a16="http://schemas.microsoft.com/office/drawing/2014/main" id="{C15667B9-56B4-5DB4-AE91-56F644DF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428" b="48207"/>
          <a:stretch>
            <a:fillRect/>
          </a:stretch>
        </p:blipFill>
        <p:spPr>
          <a:xfrm>
            <a:off x="3183076" y="1152425"/>
            <a:ext cx="2777847" cy="29502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1C1710-157D-F31C-77C7-A03E12EE8E0E}"/>
              </a:ext>
            </a:extLst>
          </p:cNvPr>
          <p:cNvSpPr txBox="1"/>
          <p:nvPr/>
        </p:nvSpPr>
        <p:spPr>
          <a:xfrm>
            <a:off x="367050" y="1704936"/>
            <a:ext cx="2401908" cy="2769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bin represents a cluster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3852B3E-61BF-EDFE-15FB-8B4952CD4ED2}"/>
              </a:ext>
            </a:extLst>
          </p:cNvPr>
          <p:cNvCxnSpPr>
            <a:stCxn id="5" idx="3"/>
          </p:cNvCxnSpPr>
          <p:nvPr/>
        </p:nvCxnSpPr>
        <p:spPr>
          <a:xfrm flipV="1">
            <a:off x="2768958" y="1790163"/>
            <a:ext cx="843566" cy="53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F2352DE-398E-182D-7E05-8459B3C2E112}"/>
              </a:ext>
            </a:extLst>
          </p:cNvPr>
          <p:cNvCxnSpPr/>
          <p:nvPr/>
        </p:nvCxnSpPr>
        <p:spPr>
          <a:xfrm>
            <a:off x="2472744" y="1981935"/>
            <a:ext cx="1159098" cy="246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00DC6C-91D3-A922-3340-1C8AE1A0BC28}"/>
              </a:ext>
            </a:extLst>
          </p:cNvPr>
          <p:cNvCxnSpPr>
            <a:cxnSpLocks/>
          </p:cNvCxnSpPr>
          <p:nvPr/>
        </p:nvCxnSpPr>
        <p:spPr>
          <a:xfrm>
            <a:off x="2248361" y="1990011"/>
            <a:ext cx="1383481" cy="906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F56769-7A5F-A588-6B0C-89584E5403D9}"/>
              </a:ext>
            </a:extLst>
          </p:cNvPr>
          <p:cNvCxnSpPr>
            <a:cxnSpLocks/>
          </p:cNvCxnSpPr>
          <p:nvPr/>
        </p:nvCxnSpPr>
        <p:spPr>
          <a:xfrm>
            <a:off x="1893194" y="1990011"/>
            <a:ext cx="1738648" cy="15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6874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5447D-4B1E-11EA-E3C9-95C42EF63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graphs with different colors&#10;&#10;AI-generated content may be incorrect.">
            <a:extLst>
              <a:ext uri="{FF2B5EF4-FFF2-40B4-BE49-F238E27FC236}">
                <a16:creationId xmlns:a16="http://schemas.microsoft.com/office/drawing/2014/main" id="{14604AA9-B989-BFDE-8CE0-A9537F9DAF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428" b="48633"/>
          <a:stretch>
            <a:fillRect/>
          </a:stretch>
        </p:blipFill>
        <p:spPr>
          <a:xfrm>
            <a:off x="3183076" y="1152425"/>
            <a:ext cx="2777847" cy="29259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CCEBEF-E5AD-90CA-7DD1-8241725A7A58}"/>
              </a:ext>
            </a:extLst>
          </p:cNvPr>
          <p:cNvSpPr txBox="1"/>
          <p:nvPr/>
        </p:nvSpPr>
        <p:spPr>
          <a:xfrm>
            <a:off x="367050" y="1704936"/>
            <a:ext cx="2401908" cy="2769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bin represents a cluster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8A8DDF-32B2-FBEA-98FC-1AAF85A74D45}"/>
              </a:ext>
            </a:extLst>
          </p:cNvPr>
          <p:cNvSpPr txBox="1"/>
          <p:nvPr/>
        </p:nvSpPr>
        <p:spPr>
          <a:xfrm>
            <a:off x="6289071" y="2433250"/>
            <a:ext cx="2401908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Y-axis represents each data point, grouped by cluster</a:t>
            </a:r>
          </a:p>
        </p:txBody>
      </p:sp>
    </p:spTree>
    <p:extLst>
      <p:ext uri="{BB962C8B-B14F-4D97-AF65-F5344CB8AC3E}">
        <p14:creationId xmlns:p14="http://schemas.microsoft.com/office/powerpoint/2010/main" val="2894001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9F26B-EDB9-1CEC-C7CA-B8029669C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graphs with different colors&#10;&#10;AI-generated content may be incorrect.">
            <a:extLst>
              <a:ext uri="{FF2B5EF4-FFF2-40B4-BE49-F238E27FC236}">
                <a16:creationId xmlns:a16="http://schemas.microsoft.com/office/drawing/2014/main" id="{53E593B2-2373-B7A0-7CBE-F73E5C35DC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428" b="48633"/>
          <a:stretch>
            <a:fillRect/>
          </a:stretch>
        </p:blipFill>
        <p:spPr>
          <a:xfrm>
            <a:off x="3183076" y="1152425"/>
            <a:ext cx="2777847" cy="29259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9A71B8-5EC5-A0FF-5A01-F5F1B7E65240}"/>
              </a:ext>
            </a:extLst>
          </p:cNvPr>
          <p:cNvSpPr txBox="1"/>
          <p:nvPr/>
        </p:nvSpPr>
        <p:spPr>
          <a:xfrm>
            <a:off x="367050" y="1704936"/>
            <a:ext cx="2401908" cy="2769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bin represents a cluster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F6471B-AB57-936C-C6E8-34CB95B71A5B}"/>
              </a:ext>
            </a:extLst>
          </p:cNvPr>
          <p:cNvSpPr txBox="1"/>
          <p:nvPr/>
        </p:nvSpPr>
        <p:spPr>
          <a:xfrm>
            <a:off x="6289071" y="2433250"/>
            <a:ext cx="2401908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Y-axis represents each data point, grouped by cluster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1C5453-1D6D-1880-A275-298A3D2C6FD2}"/>
                  </a:ext>
                </a:extLst>
              </p:cNvPr>
              <p:cNvSpPr txBox="1"/>
              <p:nvPr/>
            </p:nvSpPr>
            <p:spPr>
              <a:xfrm>
                <a:off x="5174087" y="4078386"/>
                <a:ext cx="2401908" cy="646331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The dotted line represents the average silhouette score across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Ω</m:t>
                    </m:r>
                  </m:oMath>
                </a14:m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1C5453-1D6D-1880-A275-298A3D2C6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087" y="4078386"/>
                <a:ext cx="2401908" cy="646331"/>
              </a:xfrm>
              <a:prstGeom prst="rect">
                <a:avLst/>
              </a:prstGeom>
              <a:blipFill>
                <a:blip r:embed="rId3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A2F1C4C-C918-A949-4F75-0DCBDA26D449}"/>
              </a:ext>
            </a:extLst>
          </p:cNvPr>
          <p:cNvCxnSpPr>
            <a:stCxn id="2" idx="0"/>
          </p:cNvCxnSpPr>
          <p:nvPr/>
        </p:nvCxnSpPr>
        <p:spPr>
          <a:xfrm flipH="1" flipV="1">
            <a:off x="4766209" y="3503851"/>
            <a:ext cx="1608832" cy="574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8789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65308A-1B1B-F06D-3AE5-2A78BB10742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9C6A70-731A-2B5C-7EF5-1D20EEDDF7E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How would you compare the clustering represented by the left plot versus the right plot? (select all that apply)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FF50BB-1CC1-FABF-23FE-DEED79FF0DB8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1FB078A-9EDD-5AF2-D52F-6FF528DF7EF0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1135B5DB-4A57-4FBB-801E-0DC71DCFA9DD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5714B75-C1E7-779B-7779-2665A228FDE1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9947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B8C06D-B80F-1BE0-98B4-E2DADAE46A6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A4AE47-FE60-A17B-994E-482A200040A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We TYPICALLY prefer clusterings with higher average silhouette scores and uniformly distributed silhouette scores across data points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9BDCAF-DCA9-0236-0FEA-773852616B00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340C6A6-0BEB-C10D-C1FD-ACA55B4DDBE8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799DC0CA-67D5-4DB8-A6F9-BEDBB1BC5102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B3C612B-87DC-570A-4114-EA929AA6DB69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5134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F56F06-E8B4-96A7-F74B-6C7783D9880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499E5F-A020-D90A-D89D-D12F0B75A98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is the average silhouette score for a clustering with k=N?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5F8CC9-8A59-1F7A-60F4-8EC91D847528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1B67C63-7D2C-2091-BE40-F73A2A587E2C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2A862104-6DFF-0540-F695-CEE5E5EF1D49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141E6C0-6F0D-06D9-AFE9-A98A073721F4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2055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36A49-5F23-EC43-EF16-19F0972E6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295C2BD-F541-79E5-F05B-D0C178E4767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Recall: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295C2BD-F541-79E5-F05B-D0C178E476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99382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096CE-778B-569A-B2F5-AB5E87BBD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C727E-1C7F-BDA0-CE2D-3C34DCE41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67FF836-A80E-CD76-DF2D-8CD21FE82E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Recall: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,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dirty="0"/>
                  <a:t> we observe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−?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?,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67FF836-A80E-CD76-DF2D-8CD21FE82E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32052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0A84-FC90-3C66-A4EF-25B01AF2B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CE60D-606D-BE56-9B12-55803BEE8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8A9DED3-956C-3657-90A3-AF23206F356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Recall: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,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dirty="0"/>
                  <a:t> we observe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8A9DED3-956C-3657-90A3-AF23206F35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08206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39B88-4F43-CDD8-578B-801A7584C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6B02A-F48E-75B6-A02E-FDEA8DDC9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789264B-2CCB-A550-DB53-96E36304D4C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Recall: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,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dirty="0"/>
                  <a:t> we observe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789264B-2CCB-A550-DB53-96E36304D4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64468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AF9EF-45B6-2F7A-DA4C-087A767E2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D8C99-4199-EAFD-138A-8ED7F6E0E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4155DF2-AB3E-A45C-312B-ED4811A21F2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Recall: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,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dirty="0"/>
                  <a:t> we observe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Now, observe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avg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×1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4155DF2-AB3E-A45C-312B-ED4811A21F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b="-30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20951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3A137F-60A7-AF55-B8CE-C36D3FE1458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B73594-2104-C539-2119-058DBE229A9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100" b="1">
                <a:solidFill>
                  <a:srgbClr val="000000"/>
                </a:solidFill>
              </a:rPr>
              <a:t>Let k = 2. Is K-means++ with a Euclidean distance-based cost function ideal for the following data?</a:t>
            </a:r>
            <a:endParaRPr lang="en-US" sz="3100" b="1" dirty="0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F8E06F-AD30-CDBB-59FF-2DF49D6F9CBC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4AA0187-8A95-FC84-3D42-F56F6ED52247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E7500AC8-758D-8194-95BC-A09B9A2100B9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BD1491A-30D4-6D3D-CF6F-4594DD122083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2281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AABBDC-26DB-AB6D-BAC8-4B5044C99D1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5CC65-B6DA-E556-B100-0E6B7ABD63C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See pictured.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F75A24-4181-D812-0B06-EB15B7C16D3E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0F3D62B-2DF6-895A-20E9-6FD60566498F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5C2E747C-11E0-8E4D-1EA4-0DD2E195BB02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77841D3-4D16-EF3B-5A2C-64CD0EFA2A58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2093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extLst>
    <p:ext uri="{6950BFC3-D8DA-4A85-94F7-54DA5524770B}">
      <p188:commentRel xmlns:p188="http://schemas.microsoft.com/office/powerpoint/2018/8/main" r:id="rId5"/>
    </p:ext>
  </p:extLs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91E79-B6A4-08B2-D960-65748BBD5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does K-means fail on the original dataset?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C594F-8533-B1AB-4AB7-85510AA4E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2833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11B0C-AFD8-CA9A-3381-26205A3C0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EAE9E-9FCB-5DC8-C90B-F7784C41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does K-means fail on the original dataset?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4FE04-A74D-8CD8-C08A-9D5182A6C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All clusters share the same center!</a:t>
            </a:r>
          </a:p>
        </p:txBody>
      </p:sp>
    </p:spTree>
    <p:extLst>
      <p:ext uri="{BB962C8B-B14F-4D97-AF65-F5344CB8AC3E}">
        <p14:creationId xmlns:p14="http://schemas.microsoft.com/office/powerpoint/2010/main" val="39889573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34A5F-7E81-52E5-B727-4A9AFEBBD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890-7ABC-C445-DF57-A2A1F762E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does K-means fail on the original dataset?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F62B3-4D3A-3E64-5DAC-0590AE986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All clusters share the same center!</a:t>
            </a:r>
          </a:p>
          <a:p>
            <a:r>
              <a:rPr lang="en-US" dirty="0"/>
              <a:t>We don’t have linearly separable data in 2D </a:t>
            </a:r>
            <a:r>
              <a:rPr lang="en-US" dirty="0">
                <a:sym typeface="Wingdings" pitchFamily="2" charset="2"/>
              </a:rPr>
              <a:t>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6566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75B85-5C74-CBA7-BCE1-E4ED2A4EF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83FD7-F4D1-B634-F0F7-4D75CD0DD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does K-means fail on the original dataset?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CAFFD-C2DF-C504-D804-4015C30BD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All clusters share the same center!</a:t>
            </a:r>
          </a:p>
          <a:p>
            <a:r>
              <a:rPr lang="en-US" dirty="0"/>
              <a:t>We don’t have linearly separable data in 2D </a:t>
            </a:r>
            <a:r>
              <a:rPr lang="en-US" dirty="0">
                <a:sym typeface="Wingdings" pitchFamily="2" charset="2"/>
              </a:rPr>
              <a:t> minimizing cost function does not correspond to separating the concentric rings</a:t>
            </a: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3220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FE6A-2B2F-D7B9-5DDD-E9ED927E7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the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8607CE7-BC96-004C-9981-4BD4AD88106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8607CE7-BC96-004C-9981-4BD4AD8810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65731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691EC-000F-B45E-C2EF-E404C3578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614BA1E-6097-90BD-8DEB-93C57431FE7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614BA1E-6097-90BD-8DEB-93C57431FE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4538D38-F9C2-B919-F3BA-7AC6C8105B4C}"/>
              </a:ext>
            </a:extLst>
          </p:cNvPr>
          <p:cNvCxnSpPr/>
          <p:nvPr/>
        </p:nvCxnSpPr>
        <p:spPr>
          <a:xfrm flipV="1">
            <a:off x="2867487" y="1624614"/>
            <a:ext cx="461639" cy="568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612025F-4D78-C3A6-F0DA-98DD70E26E54}"/>
              </a:ext>
            </a:extLst>
          </p:cNvPr>
          <p:cNvSpPr txBox="1"/>
          <p:nvPr/>
        </p:nvSpPr>
        <p:spPr>
          <a:xfrm>
            <a:off x="1566907" y="2200404"/>
            <a:ext cx="259672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are transforming onto a 1D space!</a:t>
            </a:r>
          </a:p>
        </p:txBody>
      </p:sp>
    </p:spTree>
    <p:extLst>
      <p:ext uri="{BB962C8B-B14F-4D97-AF65-F5344CB8AC3E}">
        <p14:creationId xmlns:p14="http://schemas.microsoft.com/office/powerpoint/2010/main" val="35371622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0FAC5-BB88-A040-04AD-F0CC814C6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5560A5B-C675-8E83-402F-F12ED5FC36C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5560A5B-C675-8E83-402F-F12ED5FC36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CBE946B-31AE-0721-68F0-EF4A25E72E53}"/>
              </a:ext>
            </a:extLst>
          </p:cNvPr>
          <p:cNvCxnSpPr/>
          <p:nvPr/>
        </p:nvCxnSpPr>
        <p:spPr>
          <a:xfrm flipV="1">
            <a:off x="2867487" y="1624614"/>
            <a:ext cx="461639" cy="568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EF71D89-28FF-6C3E-150E-27B17DA88526}"/>
              </a:ext>
            </a:extLst>
          </p:cNvPr>
          <p:cNvSpPr txBox="1"/>
          <p:nvPr/>
        </p:nvSpPr>
        <p:spPr>
          <a:xfrm>
            <a:off x="1566907" y="2200404"/>
            <a:ext cx="1904262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are transforming onto a 1D space!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03C333-1AF6-6379-1A83-63546B75F411}"/>
              </a:ext>
            </a:extLst>
          </p:cNvPr>
          <p:cNvCxnSpPr>
            <a:cxnSpLocks/>
          </p:cNvCxnSpPr>
          <p:nvPr/>
        </p:nvCxnSpPr>
        <p:spPr>
          <a:xfrm flipH="1" flipV="1">
            <a:off x="4332303" y="1624614"/>
            <a:ext cx="239697" cy="745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AC6A82-B626-68D2-E21C-3626EBAC43D4}"/>
                  </a:ext>
                </a:extLst>
              </p:cNvPr>
              <p:cNvSpPr txBox="1"/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𝑥</m:t>
                    </m:r>
                  </m:oMath>
                </a14:m>
                <a:r>
                  <a:rPr lang="en-US" b="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-coordinate of the center</a:t>
                </a:r>
              </a:p>
              <a:p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AC6A82-B626-68D2-E21C-3626EBAC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  <a:blipFill>
                <a:blip r:embed="rId3"/>
                <a:stretch>
                  <a:fillRect l="-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52477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9F843-AB1F-7BD1-8A65-011A9E063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B70981D-D5B7-F15A-B6D2-22605194E16A}"/>
              </a:ext>
            </a:extLst>
          </p:cNvPr>
          <p:cNvSpPr txBox="1">
            <a:spLocks/>
          </p:cNvSpPr>
          <p:nvPr/>
        </p:nvSpPr>
        <p:spPr>
          <a:xfrm>
            <a:off x="464100" y="1427038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What does this transformation do?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D1F8200-68D4-74DD-9F9D-598BD074936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D1F8200-68D4-74DD-9F9D-598BD07493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A66DF1F-08A5-6611-4042-83ADF8A18691}"/>
              </a:ext>
            </a:extLst>
          </p:cNvPr>
          <p:cNvCxnSpPr/>
          <p:nvPr/>
        </p:nvCxnSpPr>
        <p:spPr>
          <a:xfrm flipV="1">
            <a:off x="2867487" y="1624614"/>
            <a:ext cx="461639" cy="568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9D926C1-845A-418F-64D3-F778AE75AB41}"/>
              </a:ext>
            </a:extLst>
          </p:cNvPr>
          <p:cNvSpPr txBox="1"/>
          <p:nvPr/>
        </p:nvSpPr>
        <p:spPr>
          <a:xfrm>
            <a:off x="1566907" y="2200404"/>
            <a:ext cx="1904262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are transforming onto a 1D space!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926C836-6329-4607-D916-F3A66AF885C1}"/>
              </a:ext>
            </a:extLst>
          </p:cNvPr>
          <p:cNvCxnSpPr>
            <a:cxnSpLocks/>
          </p:cNvCxnSpPr>
          <p:nvPr/>
        </p:nvCxnSpPr>
        <p:spPr>
          <a:xfrm flipH="1" flipV="1">
            <a:off x="4332303" y="1624614"/>
            <a:ext cx="239697" cy="745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F71351-5120-CC7A-21FC-8E0A070670B4}"/>
                  </a:ext>
                </a:extLst>
              </p:cNvPr>
              <p:cNvSpPr txBox="1"/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𝑥</m:t>
                    </m:r>
                  </m:oMath>
                </a14:m>
                <a:r>
                  <a:rPr lang="en-US" b="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-coordinate of the center</a:t>
                </a:r>
              </a:p>
              <a:p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F71351-5120-CC7A-21FC-8E0A07067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  <a:blipFill>
                <a:blip r:embed="rId3"/>
                <a:stretch>
                  <a:fillRect l="-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08473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14AF-173C-AEDA-52CD-93268AB48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0C6C7A4-DDBB-C110-869C-A6804ED03AC7}"/>
              </a:ext>
            </a:extLst>
          </p:cNvPr>
          <p:cNvSpPr txBox="1">
            <a:spLocks/>
          </p:cNvSpPr>
          <p:nvPr/>
        </p:nvSpPr>
        <p:spPr>
          <a:xfrm>
            <a:off x="464100" y="14187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What does this transformation do?</a:t>
            </a:r>
          </a:p>
          <a:p>
            <a:r>
              <a:rPr lang="en-US" dirty="0"/>
              <a:t>On a 1-dimensional axis, it groups points with a similar radius.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FF445EC-6839-4A88-61DA-53284AB2FC1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FF445EC-6839-4A88-61DA-53284AB2FC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0D1D4A4-AB1C-7E5B-3538-C11FED39B955}"/>
              </a:ext>
            </a:extLst>
          </p:cNvPr>
          <p:cNvCxnSpPr/>
          <p:nvPr/>
        </p:nvCxnSpPr>
        <p:spPr>
          <a:xfrm flipV="1">
            <a:off x="2867487" y="1624614"/>
            <a:ext cx="461639" cy="568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81CAD6E-E58F-B1FE-9F56-C6DD0F366A1C}"/>
              </a:ext>
            </a:extLst>
          </p:cNvPr>
          <p:cNvSpPr txBox="1"/>
          <p:nvPr/>
        </p:nvSpPr>
        <p:spPr>
          <a:xfrm>
            <a:off x="1566907" y="2200404"/>
            <a:ext cx="1904262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are transforming onto a 1D space!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C9BDE8D-8FC1-23D6-668C-F55D6BA095AB}"/>
              </a:ext>
            </a:extLst>
          </p:cNvPr>
          <p:cNvCxnSpPr>
            <a:cxnSpLocks/>
          </p:cNvCxnSpPr>
          <p:nvPr/>
        </p:nvCxnSpPr>
        <p:spPr>
          <a:xfrm flipH="1" flipV="1">
            <a:off x="4332303" y="1624614"/>
            <a:ext cx="239697" cy="745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6939AC-9A46-3008-FF7A-BCEF8D3071E2}"/>
                  </a:ext>
                </a:extLst>
              </p:cNvPr>
              <p:cNvSpPr txBox="1"/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𝑥</m:t>
                    </m:r>
                  </m:oMath>
                </a14:m>
                <a:r>
                  <a:rPr lang="en-US" b="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-coordinate of the center</a:t>
                </a:r>
              </a:p>
              <a:p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6939AC-9A46-3008-FF7A-BCEF8D307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  <a:blipFill>
                <a:blip r:embed="rId3"/>
                <a:stretch>
                  <a:fillRect l="-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95417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3F29A-40C6-A08F-27F2-93F3E1052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C12A776-C899-C76B-7255-D775232F7E9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C12A776-C899-C76B-7255-D775232F7E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9556D21-89EE-55C3-CF34-439DC24175A6}"/>
              </a:ext>
            </a:extLst>
          </p:cNvPr>
          <p:cNvCxnSpPr/>
          <p:nvPr/>
        </p:nvCxnSpPr>
        <p:spPr>
          <a:xfrm flipV="1">
            <a:off x="2867487" y="1624614"/>
            <a:ext cx="461639" cy="568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2FFDB99-DFA2-716A-E422-2EBDC1490050}"/>
              </a:ext>
            </a:extLst>
          </p:cNvPr>
          <p:cNvSpPr txBox="1"/>
          <p:nvPr/>
        </p:nvSpPr>
        <p:spPr>
          <a:xfrm>
            <a:off x="1566907" y="2200404"/>
            <a:ext cx="1904262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are transforming onto a 1D space!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32AFD19-D40E-E5C4-A29E-2CC7C7DD2B58}"/>
              </a:ext>
            </a:extLst>
          </p:cNvPr>
          <p:cNvCxnSpPr>
            <a:cxnSpLocks/>
          </p:cNvCxnSpPr>
          <p:nvPr/>
        </p:nvCxnSpPr>
        <p:spPr>
          <a:xfrm flipH="1" flipV="1">
            <a:off x="4332303" y="1624614"/>
            <a:ext cx="239697" cy="745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EAB19A-CD5A-9578-13C9-34BADEDBA06E}"/>
                  </a:ext>
                </a:extLst>
              </p:cNvPr>
              <p:cNvSpPr txBox="1"/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𝑥</m:t>
                    </m:r>
                  </m:oMath>
                </a14:m>
                <a:r>
                  <a:rPr lang="en-US" b="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-coordinate of the center of given cluster</a:t>
                </a:r>
              </a:p>
              <a:p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EAB19A-CD5A-9578-13C9-34BADEDBA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  <a:blipFill>
                <a:blip r:embed="rId3"/>
                <a:stretch>
                  <a:fillRect l="-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2D59529-E992-F06D-75FD-4983DAD8E2BF}"/>
              </a:ext>
            </a:extLst>
          </p:cNvPr>
          <p:cNvSpPr txBox="1">
            <a:spLocks/>
          </p:cNvSpPr>
          <p:nvPr/>
        </p:nvSpPr>
        <p:spPr>
          <a:xfrm>
            <a:off x="464100" y="14187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What does this transformation do?</a:t>
            </a:r>
          </a:p>
          <a:p>
            <a:r>
              <a:rPr lang="en-US" dirty="0"/>
              <a:t>On a 1-dimensional axis, it groups points with a similar radius.</a:t>
            </a:r>
          </a:p>
          <a:p>
            <a:r>
              <a:rPr lang="en-US" dirty="0"/>
              <a:t>Hence, we will see that the visible clusters from our original image will be preserved on 1D!</a:t>
            </a:r>
          </a:p>
        </p:txBody>
      </p:sp>
    </p:spTree>
    <p:extLst>
      <p:ext uri="{BB962C8B-B14F-4D97-AF65-F5344CB8AC3E}">
        <p14:creationId xmlns:p14="http://schemas.microsoft.com/office/powerpoint/2010/main" val="6304652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560EC-4D8D-AB4A-101A-F6A320A5F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4FB5F-A452-34BB-02CC-3FA34F09D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6D5358-7D9D-AD27-98BD-9A5118C6D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072" y="1152425"/>
            <a:ext cx="3624350" cy="346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9179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16212-37AB-BCCB-0516-3931E47A1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 the transformation</a:t>
            </a:r>
          </a:p>
        </p:txBody>
      </p:sp>
      <p:pic>
        <p:nvPicPr>
          <p:cNvPr id="5" name="Picture 4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9FD6284A-35D7-8FCA-7553-4AC5175A8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4"/>
          <a:stretch>
            <a:fillRect/>
          </a:stretch>
        </p:blipFill>
        <p:spPr>
          <a:xfrm>
            <a:off x="719781" y="2047905"/>
            <a:ext cx="7704438" cy="104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1404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9DE51-86A6-A22C-B807-4A0DA3C83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Expanding our data science toolkit!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8D6A2-8757-F93B-5FBB-F79EC829D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The way we originally interpret data may not be ideal for whatever technique we intend to use. 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5094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B8ABF-F42C-A912-DECE-318D1B35E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0FAC6-DEF7-460C-A6BD-8D42BFEF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Expanding our data science toolkit!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D2E31-EBA3-D54B-2423-78594DA17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The way we originally interpret data may not be ideal for whatever technique we intend to use.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If we’re careful, we can transform our data to a space that is more compatible with our technique!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61748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8DD12-EDDE-FA67-87B4-11EB4AC9D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4DAE2-D938-CADF-43D5-8C0E4252E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Expanding our data science toolkit!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01B19-7078-DA2A-8570-0AB6C4E46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The way we originally interpret data may not be ideal for whatever technique we intend to use.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If we’re careful, we can transform our data to a space that is more compatible with our technique!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In this process, we must be careful that: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60194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CDD71-4D9E-4346-14A3-F2496BDD4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6BEBC-E4DE-603C-C501-607154BF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Expanding our data science toolkit!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65242-1424-F4F4-880E-8A856A120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The way we originally interpret data may not be ideal for whatever technique we intend to use.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If we’re careful, we can transform our data to a space that is more compatible with our technique!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In this process, we must be careful that:</a:t>
            </a:r>
          </a:p>
          <a:p>
            <a:r>
              <a:rPr lang="en-US" dirty="0"/>
              <a:t>We’re not losing important structure in our data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11436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1187B-E378-9127-2179-E2942CDBF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4EB2B-2112-FC67-8849-51515DC9A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Expanding our data science toolkit!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A88D3-CB6D-8CF0-48AF-78C3B5C8B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dirty="0"/>
              <a:t>The way we originally interpret data may not be ideal for whatever technique we intend to use.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If we’re careful, we can transform our data to a space that is more compatible with our technique!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In this process, we must be careful that:</a:t>
            </a:r>
          </a:p>
          <a:p>
            <a:r>
              <a:rPr lang="en-US" dirty="0"/>
              <a:t>We’re not losing important structure in our data</a:t>
            </a:r>
          </a:p>
          <a:p>
            <a:r>
              <a:rPr lang="en-US" dirty="0"/>
              <a:t>The forced assumptions of the transformation aligns with the original data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54604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36626-F994-3DC9-1856-A11AD2DD8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BE93A-A3BD-7DBA-F309-8F645C7AC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Expanding our data science toolkit!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C12E5-3937-BAC8-7686-B9BC25681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dirty="0"/>
              <a:t>The way we originally interpret data may not be ideal for whatever technique we intend to use.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If we’re careful, we can transform our data to a space that is more compatible with our technique!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In this process, we must be careful that:</a:t>
            </a:r>
          </a:p>
          <a:p>
            <a:r>
              <a:rPr lang="en-US" dirty="0"/>
              <a:t>We’re not losing important structure in our data</a:t>
            </a:r>
          </a:p>
          <a:p>
            <a:r>
              <a:rPr lang="en-US" dirty="0"/>
              <a:t>The forced assumptions of the transformation aligns with the original data</a:t>
            </a:r>
          </a:p>
          <a:p>
            <a:r>
              <a:rPr lang="en-US" dirty="0"/>
              <a:t>We’re not giving in to confirmation bias (transforming the data to encode our expectations)</a:t>
            </a:r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3129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E8E0B6-2600-FD37-E311-A99451D711C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322112-E3F3-91B5-7B93-DD4EC0E02F0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How many clusters would be created by cutting the dendrogram as below?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D8A34D-5344-CC46-127D-CA2389493E2A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469AA9E-0F13-B219-3818-8700C2DE1D6F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EDC5118D-52B9-2231-62FE-761423BDF92F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25A12A-9946-AB79-CBB8-9A40E9844826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3684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D5099-1484-ED98-2FC7-28474AAB0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046C17-B6DD-58AC-3C9E-6651C998BC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7776" y="0"/>
            <a:ext cx="584844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97062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D249C2-25ED-B6EE-437B-CA646839CE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47776" y="0"/>
            <a:ext cx="5848446" cy="51435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18DFF2D4-0F25-1DAE-F587-4D8F65D15E00}"/>
              </a:ext>
            </a:extLst>
          </p:cNvPr>
          <p:cNvSpPr/>
          <p:nvPr/>
        </p:nvSpPr>
        <p:spPr>
          <a:xfrm>
            <a:off x="2770910" y="2660073"/>
            <a:ext cx="1450110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12285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FB2D4-121E-6A5B-F4EE-6B3D3F72F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F5B2D3-8078-D1A9-7D1F-86DC0A8933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47776" y="0"/>
            <a:ext cx="5848446" cy="51435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5D63D92-6FE5-0F99-E509-179B570B0BFB}"/>
              </a:ext>
            </a:extLst>
          </p:cNvPr>
          <p:cNvSpPr/>
          <p:nvPr/>
        </p:nvSpPr>
        <p:spPr>
          <a:xfrm>
            <a:off x="2770910" y="2660073"/>
            <a:ext cx="1450110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1E26B03-E308-BB4B-2FC7-5A0D7BA89957}"/>
              </a:ext>
            </a:extLst>
          </p:cNvPr>
          <p:cNvSpPr/>
          <p:nvPr/>
        </p:nvSpPr>
        <p:spPr>
          <a:xfrm>
            <a:off x="4255745" y="2483427"/>
            <a:ext cx="582474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0952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464C2-29C3-EDE0-AC92-4A5FEFF9D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085007-4A66-A7FE-E3D3-FF9F955EA5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47776" y="0"/>
            <a:ext cx="5848446" cy="51435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B96CD27-17E9-D8B5-6A2D-DF71FF042820}"/>
              </a:ext>
            </a:extLst>
          </p:cNvPr>
          <p:cNvSpPr/>
          <p:nvPr/>
        </p:nvSpPr>
        <p:spPr>
          <a:xfrm>
            <a:off x="2770910" y="2660073"/>
            <a:ext cx="1450110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BCA70DE-BBF3-003C-20BB-D09D6342D890}"/>
              </a:ext>
            </a:extLst>
          </p:cNvPr>
          <p:cNvSpPr/>
          <p:nvPr/>
        </p:nvSpPr>
        <p:spPr>
          <a:xfrm>
            <a:off x="4255745" y="2483427"/>
            <a:ext cx="582474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6B0026-3CDB-B344-6BEA-02D24BBB86FD}"/>
              </a:ext>
            </a:extLst>
          </p:cNvPr>
          <p:cNvSpPr/>
          <p:nvPr/>
        </p:nvSpPr>
        <p:spPr>
          <a:xfrm>
            <a:off x="5011834" y="3043971"/>
            <a:ext cx="1190381" cy="1273390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9634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4F29A-C694-4F2D-5E8D-EB0308753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A6E2FE-4D92-F47A-B0A3-93D53C40F2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47776" y="0"/>
            <a:ext cx="5848446" cy="51435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40C62B1-67F6-7C0C-C3BD-1C7D463ACA23}"/>
              </a:ext>
            </a:extLst>
          </p:cNvPr>
          <p:cNvSpPr/>
          <p:nvPr/>
        </p:nvSpPr>
        <p:spPr>
          <a:xfrm>
            <a:off x="2770910" y="2660073"/>
            <a:ext cx="1450110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F664EC1-6727-F738-4AC9-2A96DB76CC6C}"/>
              </a:ext>
            </a:extLst>
          </p:cNvPr>
          <p:cNvSpPr/>
          <p:nvPr/>
        </p:nvSpPr>
        <p:spPr>
          <a:xfrm>
            <a:off x="4255745" y="2483427"/>
            <a:ext cx="582474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B80AE18-AA53-E1E1-32F6-49672E5852B6}"/>
              </a:ext>
            </a:extLst>
          </p:cNvPr>
          <p:cNvSpPr/>
          <p:nvPr/>
        </p:nvSpPr>
        <p:spPr>
          <a:xfrm>
            <a:off x="5011834" y="3043971"/>
            <a:ext cx="1190381" cy="1273390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7283D79-872B-692F-5948-33E3424E2503}"/>
              </a:ext>
            </a:extLst>
          </p:cNvPr>
          <p:cNvSpPr/>
          <p:nvPr/>
        </p:nvSpPr>
        <p:spPr>
          <a:xfrm>
            <a:off x="6242883" y="2590622"/>
            <a:ext cx="296813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1177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0A932-115C-B90E-19BD-58316043A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4360D-A40D-A041-EB6C-81636F075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link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8541B-7504-3FD2-8290-D467AA27E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Purpose: to find the distance between a point and a cluster or two clusters</a:t>
            </a:r>
          </a:p>
        </p:txBody>
      </p:sp>
    </p:spTree>
    <p:extLst>
      <p:ext uri="{BB962C8B-B14F-4D97-AF65-F5344CB8AC3E}">
        <p14:creationId xmlns:p14="http://schemas.microsoft.com/office/powerpoint/2010/main" val="125466284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417C6-343F-E02F-68B0-FD5A552BF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link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0E238D7-0344-1A4F-8B7B-4948318C03C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Single-link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0E238D7-0344-1A4F-8B7B-4948318C03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05849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07562-CD05-69F5-C27A-14185329D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8F48-104E-B4FC-63A4-9C08DDDF8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link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D9DC14F-8C8D-B455-5B14-806992B6BE7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Single-link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Complete-link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D9DC14F-8C8D-B455-5B14-806992B6BE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956559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4D1E3-D49D-B184-D213-B1E4CE89D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6F702-D564-4750-7EBE-5E870A16B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link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D28E140-3F60-F156-04AC-67ED2C0C977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Single-link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Complete-link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Average-link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D28E140-3F60-F156-04AC-67ED2C0C97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93132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4F347-2458-F215-A8C1-33D5F351B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5FDC-4104-9169-8F61-A316D9EDC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link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5EEBE19-17B6-94D0-D9DF-408AF5C7F42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Single-link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Complete-link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Average-link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Centroid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5EEBE19-17B6-94D0-D9DF-408AF5C7F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07457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B23AE-A716-3CAA-57B4-0F31AEB75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97F9A-9ECE-DD5F-F4D8-AAD3D7363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link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9FE6CD-73E4-5B79-9DA9-A425E6D9AF5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Single-link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Complete-link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Average-link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Centroid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Ward’s distance:</a:t>
                </a:r>
              </a:p>
              <a:p>
                <a:pPr marL="11430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𝑊𝐷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b="0" dirty="0"/>
                  <a:t>	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9FE6CD-73E4-5B79-9DA9-A425E6D9AF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766" b="-9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112560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56039-0C04-46B9-56FB-D64951EC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D4321-484A-EAE9-A9CC-860F4FB12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AA576F-34EA-B264-847F-DF0A22993528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24C686-B3A6-6211-CB34-E44128178E1E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1AF7D50-A9F3-CB3B-D069-063DFB783819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9F7F2A-04D9-9794-08FB-D5A3D231BF6F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9F7F2A-04D9-9794-08FB-D5A3D231B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4E745817-90B3-24C6-66CE-1CC8C5325FBB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050C63-7966-8003-F38F-17C6E34D88B0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050C63-7966-8003-F38F-17C6E34D8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C6933E06-5063-F213-A533-FAAAF3EBE7EB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2A33721-8BC8-84D6-6B9E-899BE5A99F7C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2A33721-8BC8-84D6-6B9E-899BE5A99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EF6AE134-80F8-B526-BE27-A3BF952D845E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CA3EB1E-B65B-AFAA-B38F-607F02136618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E77ABA4-3690-44E0-CCA7-53F128743CD8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E77ABA4-3690-44E0-CCA7-53F128743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200460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7DB47-833D-9F21-D519-7328A538D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45802-12D6-F2E8-D91C-30DD6926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5507A-9A20-EE1B-0F57-BB6F3B1B3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FE68681-D960-51A8-30A7-D6ED9B3C503C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F48803F-9433-64C1-3EC8-2B8F7255DADB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1866E75F-56D7-9E85-C5D8-952F882CDFEF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39A7189-6C58-185F-CBE6-EE55248DB3B4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39A7189-6C58-185F-CBE6-EE55248DB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9FCBE5E3-BEB4-1CA7-44A3-0DB33F9027E4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B74E53-C83A-AC02-EEF5-4BBBDE8917C3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B74E53-C83A-AC02-EEF5-4BBBDE891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E78F0977-9A20-1726-61D4-3A8658DFE9AE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A9CD4A-B90A-03F0-B569-F7CB4F70E0EF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A9CD4A-B90A-03F0-B569-F7CB4F70E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5A32F67C-DA0D-E8E5-C446-A64DEBB0A435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1867345-C8AE-37F9-8D12-AD31262A969C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716DF7-4D4F-6168-02A0-36C415F7D66C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716DF7-4D4F-6168-02A0-36C415F7D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3994CE-E317-B195-D790-5D809AF4FEF8}"/>
              </a:ext>
            </a:extLst>
          </p:cNvPr>
          <p:cNvCxnSpPr>
            <a:cxnSpLocks/>
            <a:stCxn id="10" idx="7"/>
            <a:endCxn id="16" idx="1"/>
          </p:cNvCxnSpPr>
          <p:nvPr/>
        </p:nvCxnSpPr>
        <p:spPr>
          <a:xfrm flipV="1">
            <a:off x="1143936" y="1991588"/>
            <a:ext cx="582332" cy="1707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36ABB8-0056-9133-D059-52CA56C00AAC}"/>
              </a:ext>
            </a:extLst>
          </p:cNvPr>
          <p:cNvCxnSpPr>
            <a:cxnSpLocks/>
            <a:stCxn id="10" idx="7"/>
          </p:cNvCxnSpPr>
          <p:nvPr/>
        </p:nvCxnSpPr>
        <p:spPr>
          <a:xfrm flipV="1">
            <a:off x="1143936" y="2652292"/>
            <a:ext cx="1263233" cy="1047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8E62DE5-8086-2803-47A7-A298FF47CAC7}"/>
                  </a:ext>
                </a:extLst>
              </p:cNvPr>
              <p:cNvSpPr txBox="1"/>
              <p:nvPr/>
            </p:nvSpPr>
            <p:spPr>
              <a:xfrm>
                <a:off x="845821" y="2559361"/>
                <a:ext cx="847898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8E62DE5-8086-2803-47A7-A298FF47C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1" y="2559361"/>
                <a:ext cx="847898" cy="3331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685B23-3EEC-398A-43B0-4ECECB98C8E2}"/>
                  </a:ext>
                </a:extLst>
              </p:cNvPr>
              <p:cNvSpPr txBox="1"/>
              <p:nvPr/>
            </p:nvSpPr>
            <p:spPr>
              <a:xfrm>
                <a:off x="1590823" y="3018260"/>
                <a:ext cx="847898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685B23-3EEC-398A-43B0-4ECECB98C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823" y="3018260"/>
                <a:ext cx="847898" cy="3331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798276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10ED1-B49E-0897-5380-BC00B5D6A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5935E-1FC7-C7A0-C996-5F1720E25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B98FF-DA13-6057-82F6-4FC1236CA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42EA46-47F0-4957-BFA2-0D81E5BDA3CC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A2B1326-F2BD-0B53-B2CD-D10194229FD8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5471C29A-42A1-2508-DC4D-41903058C251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A0FEC7-D755-BB54-03FC-7CC2BB09ABE2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A0FEC7-D755-BB54-03FC-7CC2BB09A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4B434862-999B-7129-92E6-4CBC02D218C0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E6423E-D4DD-B56E-95BE-B19EBEAA544F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E6423E-D4DD-B56E-95BE-B19EBEAA5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C2818FE9-FE75-38AE-71B4-448E209E1102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79C9FE-BEE9-9A6D-7956-F974A1FF82C8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79C9FE-BEE9-9A6D-7956-F974A1FF8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731140A0-DFF3-82D3-AD42-EA1198D70B25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E4C7B81-F456-BCAD-84DC-35342068733A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AAAD20-3632-BE58-E10D-E4570DABA8FA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AAAD20-3632-BE58-E10D-E4570DABA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708035-A535-823E-12AB-63BBCC502A1B}"/>
              </a:ext>
            </a:extLst>
          </p:cNvPr>
          <p:cNvCxnSpPr>
            <a:cxnSpLocks/>
            <a:stCxn id="10" idx="7"/>
            <a:endCxn id="16" idx="1"/>
          </p:cNvCxnSpPr>
          <p:nvPr/>
        </p:nvCxnSpPr>
        <p:spPr>
          <a:xfrm flipV="1">
            <a:off x="1143936" y="1991588"/>
            <a:ext cx="582332" cy="1707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01B091-56CC-E6EB-3224-E7282F0DF161}"/>
              </a:ext>
            </a:extLst>
          </p:cNvPr>
          <p:cNvCxnSpPr>
            <a:cxnSpLocks/>
            <a:stCxn id="10" idx="7"/>
          </p:cNvCxnSpPr>
          <p:nvPr/>
        </p:nvCxnSpPr>
        <p:spPr>
          <a:xfrm flipV="1">
            <a:off x="1143936" y="2652292"/>
            <a:ext cx="1263233" cy="1047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9DB2F6-7ADC-1E26-3426-A0B1E743D85A}"/>
                  </a:ext>
                </a:extLst>
              </p:cNvPr>
              <p:cNvSpPr txBox="1"/>
              <p:nvPr/>
            </p:nvSpPr>
            <p:spPr>
              <a:xfrm>
                <a:off x="845821" y="2559361"/>
                <a:ext cx="847898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9DB2F6-7ADC-1E26-3426-A0B1E743D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1" y="2559361"/>
                <a:ext cx="847898" cy="3331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C92588-F124-96E7-CA2D-261B509B24A5}"/>
                  </a:ext>
                </a:extLst>
              </p:cNvPr>
              <p:cNvSpPr txBox="1"/>
              <p:nvPr/>
            </p:nvSpPr>
            <p:spPr>
              <a:xfrm>
                <a:off x="1590823" y="3018260"/>
                <a:ext cx="847898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C92588-F124-96E7-CA2D-261B509B2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823" y="3018260"/>
                <a:ext cx="847898" cy="3331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243C169-5AFA-6B46-1AD1-7C6639C17B42}"/>
                  </a:ext>
                </a:extLst>
              </p:cNvPr>
              <p:cNvSpPr txBox="1"/>
              <p:nvPr/>
            </p:nvSpPr>
            <p:spPr>
              <a:xfrm>
                <a:off x="3433313" y="1936168"/>
                <a:ext cx="4761781" cy="548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243C169-5AFA-6B46-1AD1-7C6639C17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313" y="1936168"/>
                <a:ext cx="4761781" cy="5488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199573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0B531-D8AC-6595-30DA-0EE0BD838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90BA-DBCC-CC06-D2E7-5C6283E7B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49154-C0DC-586E-F21C-13AAB420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11D9D9-8889-BA2B-9BCF-C01E617E0D80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9E62B8-D2F4-5B9E-E80E-0D7F796CDDC7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AF42A4D-B818-F450-AA43-B8ABC355B92F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C13B00-3C90-26DF-0BBC-283E57A224CF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C13B00-3C90-26DF-0BBC-283E57A22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DC03D6C9-DB62-9851-94DD-B290C99050FD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D99F39-C307-96C3-A89B-8D276D3D5ECD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D99F39-C307-96C3-A89B-8D276D3D5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6C5A965B-9F23-557E-30B9-8E71EC099787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7CCA474-A6B2-FC08-2B4F-81B223AB762C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7CCA474-A6B2-FC08-2B4F-81B223AB7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83E74A59-9B0C-3AB3-15DA-CB0698511E7C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D3D3F5F-8654-0F0F-A4A1-38B3883D7854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ED2E30A-834F-8186-E665-44DF3CEA8CA8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ED2E30A-834F-8186-E665-44DF3CEA8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4D7454-9E63-C214-1F87-4CCCFFC1F529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2454446" y="2671345"/>
            <a:ext cx="1042077" cy="10305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8DB3B-0DED-D890-2530-632CB4114608}"/>
                  </a:ext>
                </a:extLst>
              </p:cNvPr>
              <p:cNvSpPr txBox="1"/>
              <p:nvPr/>
            </p:nvSpPr>
            <p:spPr>
              <a:xfrm>
                <a:off x="3433313" y="1936168"/>
                <a:ext cx="4761781" cy="548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8DB3B-0DED-D890-2530-632CB4114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313" y="1936168"/>
                <a:ext cx="4761781" cy="5488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616951-79AB-6B83-2925-39BB3EF5579F}"/>
                  </a:ext>
                </a:extLst>
              </p:cNvPr>
              <p:cNvSpPr txBox="1"/>
              <p:nvPr/>
            </p:nvSpPr>
            <p:spPr>
              <a:xfrm>
                <a:off x="2768183" y="3027069"/>
                <a:ext cx="847898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616951-79AB-6B83-2925-39BB3EF55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183" y="3027069"/>
                <a:ext cx="847898" cy="5529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5E1EAA-5D70-9756-D28F-AD6A5D975CBD}"/>
                  </a:ext>
                </a:extLst>
              </p:cNvPr>
              <p:cNvSpPr txBox="1"/>
              <p:nvPr/>
            </p:nvSpPr>
            <p:spPr>
              <a:xfrm>
                <a:off x="1802194" y="2119134"/>
                <a:ext cx="847898" cy="548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5E1EAA-5D70-9756-D28F-AD6A5D975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194" y="2119134"/>
                <a:ext cx="847898" cy="5486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83768C-2CA3-DDA7-281F-6A2E4A17C59B}"/>
              </a:ext>
            </a:extLst>
          </p:cNvPr>
          <p:cNvCxnSpPr>
            <a:cxnSpLocks/>
            <a:stCxn id="16" idx="1"/>
          </p:cNvCxnSpPr>
          <p:nvPr/>
        </p:nvCxnSpPr>
        <p:spPr>
          <a:xfrm>
            <a:off x="1726268" y="1991588"/>
            <a:ext cx="1776825" cy="17582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32229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D8A3A-1246-E6C3-B2A2-30E9F1694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D4D89-647E-AAB8-C853-315A1BA7B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F9FED-5EDD-F154-82F5-AE1387F5D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E1B38D-09CD-0155-5193-AF648C8A1A2C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0D3FB0-9017-876C-8AE3-0249C0BA433D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5970CFD-746D-6D39-CD0E-1ED77354813B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3AE0C6-2A75-F120-28F4-B9E79C6C39CA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3AE0C6-2A75-F120-28F4-B9E79C6C3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396DAE75-4971-7763-261A-DAAD32274FD3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4D6DCB-09BD-6366-D2BC-24176753FB1E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4D6DCB-09BD-6366-D2BC-24176753F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66EE5B5A-1F9A-78E7-1E9E-744E0D44013C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3D946EF-4A85-9CB1-F743-7CEC2206EBF3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3D946EF-4A85-9CB1-F743-7CEC2206E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441039C0-DCA3-3CD2-C0E9-C3FE41EFF8CA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2CEE5BA-01F8-6242-47CF-A8833988682E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7359252-A880-500A-54D4-3C7679813C30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7359252-A880-500A-54D4-3C7679813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1D814E-2E1D-F080-6245-C39F92D796C7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2454446" y="2671345"/>
            <a:ext cx="1042077" cy="10305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A80D34-106A-7B73-5D65-F61882282FA3}"/>
                  </a:ext>
                </a:extLst>
              </p:cNvPr>
              <p:cNvSpPr txBox="1"/>
              <p:nvPr/>
            </p:nvSpPr>
            <p:spPr>
              <a:xfrm>
                <a:off x="3433313" y="1936168"/>
                <a:ext cx="4761781" cy="574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A80D34-106A-7B73-5D65-F61882282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313" y="1936168"/>
                <a:ext cx="4761781" cy="574516"/>
              </a:xfrm>
              <a:prstGeom prst="rect">
                <a:avLst/>
              </a:prstGeom>
              <a:blipFill>
                <a:blip r:embed="rId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55DD810-3C0B-0F4C-192F-B50683C8D7D8}"/>
                  </a:ext>
                </a:extLst>
              </p:cNvPr>
              <p:cNvSpPr txBox="1"/>
              <p:nvPr/>
            </p:nvSpPr>
            <p:spPr>
              <a:xfrm>
                <a:off x="2768183" y="3027069"/>
                <a:ext cx="847898" cy="548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55DD810-3C0B-0F4C-192F-B50683C8D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183" y="3027069"/>
                <a:ext cx="847898" cy="5486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3651609-1285-6B8D-C045-9DED2CAB16AE}"/>
                  </a:ext>
                </a:extLst>
              </p:cNvPr>
              <p:cNvSpPr txBox="1"/>
              <p:nvPr/>
            </p:nvSpPr>
            <p:spPr>
              <a:xfrm>
                <a:off x="1802194" y="2119134"/>
                <a:ext cx="847898" cy="548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3651609-1285-6B8D-C045-9DED2CAB1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194" y="2119134"/>
                <a:ext cx="847898" cy="5486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D0ED2FA-5C3C-92DE-CA14-CB3FA280D620}"/>
              </a:ext>
            </a:extLst>
          </p:cNvPr>
          <p:cNvCxnSpPr>
            <a:cxnSpLocks/>
            <a:stCxn id="16" idx="1"/>
          </p:cNvCxnSpPr>
          <p:nvPr/>
        </p:nvCxnSpPr>
        <p:spPr>
          <a:xfrm>
            <a:off x="1726268" y="1991588"/>
            <a:ext cx="1776825" cy="17582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96266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52F9F-B2E5-3558-C7F3-D699CB585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FFEA7-1998-9E16-4018-870482003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9AEF6-0498-2FA1-87FC-B786F7167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797122-C679-180E-CB91-EBEAC9D6F4C2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EB3589D-972A-E806-18DA-0502EA6A777A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5528EA7-65B4-F5F6-A345-2A4466EC9E7D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345259-5650-C5AA-2D58-83FA313AD2C2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345259-5650-C5AA-2D58-83FA313AD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355201CB-48D4-0A16-E091-FD7DD5D07381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63B1FC-E1FF-B698-AE69-CE36B5F88D0E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63B1FC-E1FF-B698-AE69-CE36B5F88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2266E7EA-3E84-12A0-0AD2-A7E41967E05A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445CFB-FDE1-00E2-DD4D-A6C7B8FFFC1D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445CFB-FDE1-00E2-DD4D-A6C7B8FFF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6E3B72BE-AC0F-976A-5F36-90C827135392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D324181-C7F9-1E9F-6453-DF1B6730F13E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1752B8-B78A-C1C2-A3E0-5634614E7CBE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1752B8-B78A-C1C2-A3E0-5634614E7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918961-5FA4-7B99-49B7-883D108BA1C7}"/>
                  </a:ext>
                </a:extLst>
              </p:cNvPr>
              <p:cNvSpPr txBox="1"/>
              <p:nvPr/>
            </p:nvSpPr>
            <p:spPr>
              <a:xfrm>
                <a:off x="3433313" y="1936168"/>
                <a:ext cx="4761781" cy="1241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pPr algn="ctr"/>
                <a:r>
                  <a:rPr lang="en-US" b="0" i="1" dirty="0" err="1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next_merge</a:t>
                </a:r>
                <a:r>
                  <a:rPr lang="en-US" b="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min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{</m:t>
                        </m:r>
                      </m:e>
                    </m:func>
                    <m:sSub>
                      <m:sSub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𝐴𝐵</m:t>
                        </m:r>
                      </m:e>
                    </m: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𝐴𝐵</m:t>
                        </m:r>
                      </m:e>
                    </m:d>
                    <m:r>
                      <m:rPr>
                        <m:lit/>
                      </m:rP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}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8</m:t>
                        </m:r>
                      </m:e>
                    </m:ra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→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𝐷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𝑜𝑟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𝐶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!</m:t>
                    </m:r>
                  </m:oMath>
                </a14:m>
                <a:endParaRPr lang="en-US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algn="ctr"/>
                <a:endParaRPr lang="en-US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algn="ctr"/>
                <a:endParaRPr lang="en-US" b="0" i="1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918961-5FA4-7B99-49B7-883D108BA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313" y="1936168"/>
                <a:ext cx="4761781" cy="1241365"/>
              </a:xfrm>
              <a:prstGeom prst="rect">
                <a:avLst/>
              </a:prstGeom>
              <a:blipFill>
                <a:blip r:embed="rId6"/>
                <a:stretch>
                  <a:fillRect l="-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872481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6E2DE-9947-5840-56CF-FCCCF9F7D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1D3B3-E611-1A4B-60AC-53089D588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0A6E0-7F92-99EE-7BBF-8B90CAB28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complete-link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1DB46F-14F0-F853-A4DA-2A9F876FC57A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7E5A56-FA0D-86CF-8213-BD5B96175534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03286A0-CF17-65DB-6D83-6A4F06891E7F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1152B8-068E-AA1A-AB0F-830F15027CDC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1152B8-068E-AA1A-AB0F-830F15027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BCE4A0FA-C9B7-6B30-D906-C7F1D8C77E36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E073CF-1DE2-302A-7E98-34FE34942DA2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E073CF-1DE2-302A-7E98-34FE34942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E67B4443-2FBA-FA99-94BF-64DDFD0EE376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49382E-3986-F2C2-F64F-A444E1018562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49382E-3986-F2C2-F64F-A444E1018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28D2A778-BA8D-FB68-6E3C-7DE343EAA6C3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08A4070-E867-650C-0BEA-4F3CBD60CAFE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C2A6139-63FE-BC08-F78B-2A84CADEBCA9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C2A6139-63FE-BC08-F78B-2A84CADEB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004988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5C14-95DD-A4F7-9BA1-1C0D1407D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6BB34-2150-034D-56ED-AF27C4F0C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5740F-44A1-F398-86F9-43FED3103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complete-link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696DFE-ADB8-D57D-5336-AD768AAC0D6D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3443334-A10D-C069-3DA4-29BDA95A89CD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7294479-9A61-A0C0-63F4-AA7CE7CF3C71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41B9EB-D7F4-515E-AEA4-F79441A27C93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41B9EB-D7F4-515E-AEA4-F79441A27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569F4533-DF3D-2923-761D-4D9676B2041D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A7F29F-CB4D-D449-172E-8058D49CEF3B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A7F29F-CB4D-D449-172E-8058D49CE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970FBB6A-43FE-5FC9-741B-5FD7FBD6648A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30470D3-DB7B-B966-01B7-366B718ED7B3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30470D3-DB7B-B966-01B7-366B718ED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54263931-C1C3-AB27-4FAC-1098F9627B9E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1C09B93-1DF4-B3CF-76D3-70D6516272D6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933473B-C40B-19A6-5F1B-EEDB3F0EFF71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933473B-C40B-19A6-5F1B-EEDB3F0EF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21A6FF-6032-40C1-6D1E-602EB669FE53}"/>
              </a:ext>
            </a:extLst>
          </p:cNvPr>
          <p:cNvCxnSpPr>
            <a:cxnSpLocks/>
            <a:stCxn id="10" idx="7"/>
            <a:endCxn id="16" idx="1"/>
          </p:cNvCxnSpPr>
          <p:nvPr/>
        </p:nvCxnSpPr>
        <p:spPr>
          <a:xfrm flipV="1">
            <a:off x="1143936" y="1991588"/>
            <a:ext cx="582332" cy="1707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3148FF-D4E2-78B3-E7D7-2783339988DE}"/>
              </a:ext>
            </a:extLst>
          </p:cNvPr>
          <p:cNvCxnSpPr>
            <a:cxnSpLocks/>
            <a:stCxn id="10" idx="7"/>
          </p:cNvCxnSpPr>
          <p:nvPr/>
        </p:nvCxnSpPr>
        <p:spPr>
          <a:xfrm flipV="1">
            <a:off x="1143936" y="2652292"/>
            <a:ext cx="1263233" cy="1047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3A91C8B-0C30-2ACE-FC38-9521E3F8E3D3}"/>
                  </a:ext>
                </a:extLst>
              </p:cNvPr>
              <p:cNvSpPr txBox="1"/>
              <p:nvPr/>
            </p:nvSpPr>
            <p:spPr>
              <a:xfrm>
                <a:off x="845821" y="2559361"/>
                <a:ext cx="847898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3A91C8B-0C30-2ACE-FC38-9521E3F8E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1" y="2559361"/>
                <a:ext cx="847898" cy="3331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F0E8FF-F728-A2FD-6A3A-70709A5607A1}"/>
                  </a:ext>
                </a:extLst>
              </p:cNvPr>
              <p:cNvSpPr txBox="1"/>
              <p:nvPr/>
            </p:nvSpPr>
            <p:spPr>
              <a:xfrm>
                <a:off x="1590823" y="3018260"/>
                <a:ext cx="847898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F0E8FF-F728-A2FD-6A3A-70709A560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823" y="3018260"/>
                <a:ext cx="847898" cy="3331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ABC649-56FA-8C7F-345A-17BF9918238D}"/>
                  </a:ext>
                </a:extLst>
              </p:cNvPr>
              <p:cNvSpPr txBox="1"/>
              <p:nvPr/>
            </p:nvSpPr>
            <p:spPr>
              <a:xfrm>
                <a:off x="3765710" y="1813399"/>
                <a:ext cx="4106173" cy="548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ABC649-56FA-8C7F-345A-17BF99182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5710" y="1813399"/>
                <a:ext cx="4106173" cy="5488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06287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4AE29-9D01-C20A-076B-159777E95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7284D-A9B7-4A8D-434A-B00692BA8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AA781-20F4-74BC-DC00-0AB2BB44F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complete-link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7C748F8-AD39-D0DE-AABD-A09A321CFC4E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E2A98D-DA8D-2AEF-9438-465BA670B5D3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BC10A0BE-B578-7BE5-28AF-C3AE7AF93DCE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0148D9-FBC2-3F7D-6765-D78C9240294B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0148D9-FBC2-3F7D-6765-D78C92402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0552759B-10B6-485D-B0DB-20F69CF88CEA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95D491-4994-5E20-5482-6F0750D15D7C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95D491-4994-5E20-5482-6F0750D15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F50F3634-34B2-A4F7-5626-601D75798FDE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8FF2D4-ED99-39FA-5178-7D7303B9543B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8FF2D4-ED99-39FA-5178-7D7303B95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5241CABE-B9D9-617F-BF24-9C8D43C36E72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18AA012-652B-0055-433C-66F1B4800402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E4A9C8-D4A1-0C2D-5B55-6BE0CEC43319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E4A9C8-D4A1-0C2D-5B55-6BE0CEC43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4AB8A6-6425-7209-6570-81D8E9FFE53B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2454446" y="2671345"/>
            <a:ext cx="1042077" cy="10305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E84A7C-6AB1-5FCB-3268-1476062BCCF2}"/>
                  </a:ext>
                </a:extLst>
              </p:cNvPr>
              <p:cNvSpPr txBox="1"/>
              <p:nvPr/>
            </p:nvSpPr>
            <p:spPr>
              <a:xfrm>
                <a:off x="2768183" y="3027069"/>
                <a:ext cx="847898" cy="548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E84A7C-6AB1-5FCB-3268-1476062BC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183" y="3027069"/>
                <a:ext cx="847898" cy="5486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E962775-387E-C5BA-1E4A-3F72B240914D}"/>
                  </a:ext>
                </a:extLst>
              </p:cNvPr>
              <p:cNvSpPr txBox="1"/>
              <p:nvPr/>
            </p:nvSpPr>
            <p:spPr>
              <a:xfrm>
                <a:off x="1802194" y="2119134"/>
                <a:ext cx="847898" cy="548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E962775-387E-C5BA-1E4A-3F72B2409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194" y="2119134"/>
                <a:ext cx="847898" cy="5486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A0E8E41-792C-165B-2D05-D39EB566767A}"/>
              </a:ext>
            </a:extLst>
          </p:cNvPr>
          <p:cNvCxnSpPr>
            <a:cxnSpLocks/>
            <a:stCxn id="16" idx="1"/>
          </p:cNvCxnSpPr>
          <p:nvPr/>
        </p:nvCxnSpPr>
        <p:spPr>
          <a:xfrm>
            <a:off x="1726268" y="1991588"/>
            <a:ext cx="1776825" cy="17582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ECB20C-7208-06D2-F690-9EB71D680F9A}"/>
                  </a:ext>
                </a:extLst>
              </p:cNvPr>
              <p:cNvSpPr txBox="1"/>
              <p:nvPr/>
            </p:nvSpPr>
            <p:spPr>
              <a:xfrm>
                <a:off x="3765710" y="1813399"/>
                <a:ext cx="4106173" cy="819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ECB20C-7208-06D2-F690-9EB71D680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5710" y="1813399"/>
                <a:ext cx="4106173" cy="8199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082672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3230F-6FBC-0264-9043-EB5159B8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62233-8F9B-43EF-D2B1-26D411BC7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A55A4-53EA-0108-8F41-669D070D1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complete-link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B7A2490-34EC-8D35-ED1C-4DE8D4A6CD32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760C71-A960-FA52-94BE-C09C9AE1CDE2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BAAE15C-2B6C-3CC0-5859-E93EFD487A65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6B4BFC-FB75-78AC-1C5C-3B8D9D12BE14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6B4BFC-FB75-78AC-1C5C-3B8D9D12B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B6778A45-4FB3-B3ED-3EAE-9A5E8D3993EC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FDE01E-1D8E-EB14-6442-8108E9248E99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FDE01E-1D8E-EB14-6442-8108E9248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5A87F787-41DF-F49A-C862-2E7B5095FD21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00A96F-67D0-E335-2FAF-1E91416B76C1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00A96F-67D0-E335-2FAF-1E91416B7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88E63677-1901-F53B-822A-14F24C45E312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F3B719F-3E47-4186-DB80-CD62248EC7DC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B3C9AA-0BFC-6B89-59D4-1F4F298C2D26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B3C9AA-0BFC-6B89-59D4-1F4F298C2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7308481-6086-58A6-6881-9381F87019D1}"/>
                  </a:ext>
                </a:extLst>
              </p:cNvPr>
              <p:cNvSpPr txBox="1"/>
              <p:nvPr/>
            </p:nvSpPr>
            <p:spPr>
              <a:xfrm>
                <a:off x="3475566" y="1813399"/>
                <a:ext cx="4771621" cy="1055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r>
                  <a:rPr lang="en-US" i="1" dirty="0" err="1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next_merge</a:t>
                </a:r>
                <a:r>
                  <a:rPr lang="en-US" i="1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min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{</m:t>
                        </m:r>
                      </m:e>
                    </m:func>
                    <m:sSub>
                      <m:sSub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𝐴𝐵</m:t>
                        </m:r>
                      </m:e>
                    </m: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𝐴𝐵</m:t>
                        </m:r>
                      </m:e>
                    </m:d>
                    <m:r>
                      <m:rPr>
                        <m:lit/>
                      </m:rP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}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10</m:t>
                        </m:r>
                      </m:e>
                    </m:ra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→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𝐶</m:t>
                    </m:r>
                  </m:oMath>
                </a14:m>
                <a:endParaRPr lang="en-US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US" i="1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7308481-6086-58A6-6881-9381F8701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566" y="1813399"/>
                <a:ext cx="4771621" cy="1055866"/>
              </a:xfrm>
              <a:prstGeom prst="rect">
                <a:avLst/>
              </a:prstGeom>
              <a:blipFill>
                <a:blip r:embed="rId6"/>
                <a:stretch>
                  <a:fillRect l="-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390371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1D869-6463-1D44-1237-20C2B4AD5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CA8BB-6436-D3E0-45FB-41CB4200F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F311B-E3BB-60DC-952E-96CB20AD2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complete-link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C3E1B98-5369-CE93-7704-21CE3871EC17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DE71BB-A368-BF74-1188-D5A4350CBE86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598721C-03C8-656C-CB9E-E59A769F03EE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A526BF-8A63-4405-BF22-CA95007BF760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A526BF-8A63-4405-BF22-CA95007BF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1C614FE5-1130-1A87-DE5F-D27F90A9AAB8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8EC01A-1332-0737-EC99-C2C3ACA98359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8EC01A-1332-0737-EC99-C2C3ACA98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100CDFEA-F5D0-4C1C-9202-841D688C40D0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5FF652-244D-2349-85D2-5C72278374E9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5FF652-244D-2349-85D2-5C7227837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6A684F27-6611-9465-AAC3-8BCFFF956CD0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39C1EEE-AD45-EB49-A003-206B499DB808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DA44209-31EE-F152-A676-CBDB4BAC4611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DA44209-31EE-F152-A676-CBDB4BAC4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4BFC31-19AB-26B9-2F9B-D613D7920F61}"/>
                  </a:ext>
                </a:extLst>
              </p:cNvPr>
              <p:cNvSpPr txBox="1"/>
              <p:nvPr/>
            </p:nvSpPr>
            <p:spPr>
              <a:xfrm>
                <a:off x="3475566" y="1813399"/>
                <a:ext cx="4771621" cy="1055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r>
                  <a:rPr lang="en-US" i="1" dirty="0" err="1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next_merge</a:t>
                </a:r>
                <a:r>
                  <a:rPr lang="en-US" i="1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min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{</m:t>
                        </m:r>
                      </m:e>
                    </m:func>
                    <m:sSub>
                      <m:sSub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𝐴𝐵</m:t>
                        </m:r>
                      </m:e>
                    </m: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𝐴𝐵</m:t>
                        </m:r>
                      </m:e>
                    </m:d>
                    <m:r>
                      <m:rPr>
                        <m:lit/>
                      </m:rP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}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10</m:t>
                        </m:r>
                      </m:e>
                    </m:ra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→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𝐶</m:t>
                    </m:r>
                  </m:oMath>
                </a14:m>
                <a:endParaRPr lang="en-US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US" i="1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4BFC31-19AB-26B9-2F9B-D613D7920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566" y="1813399"/>
                <a:ext cx="4771621" cy="1055866"/>
              </a:xfrm>
              <a:prstGeom prst="rect">
                <a:avLst/>
              </a:prstGeom>
              <a:blipFill>
                <a:blip r:embed="rId6"/>
                <a:stretch>
                  <a:fillRect l="-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3D3704D-3CE2-CC3D-960D-BE2C7157A9DF}"/>
              </a:ext>
            </a:extLst>
          </p:cNvPr>
          <p:cNvSpPr txBox="1"/>
          <p:nvPr/>
        </p:nvSpPr>
        <p:spPr>
          <a:xfrm>
            <a:off x="3481499" y="2343589"/>
            <a:ext cx="3385293" cy="307777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2BE7595-13EA-AE88-1514-1AA97FD60F04}"/>
              </a:ext>
            </a:extLst>
          </p:cNvPr>
          <p:cNvCxnSpPr>
            <a:cxnSpLocks/>
          </p:cNvCxnSpPr>
          <p:nvPr/>
        </p:nvCxnSpPr>
        <p:spPr>
          <a:xfrm flipH="1" flipV="1">
            <a:off x="4747846" y="2668950"/>
            <a:ext cx="1855177" cy="10643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BDAEEFE-24C8-F7A9-1737-B80475593E5F}"/>
              </a:ext>
            </a:extLst>
          </p:cNvPr>
          <p:cNvSpPr txBox="1"/>
          <p:nvPr/>
        </p:nvSpPr>
        <p:spPr>
          <a:xfrm>
            <a:off x="6604475" y="3740725"/>
            <a:ext cx="2171700" cy="52322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line is the same for all link functions!!</a:t>
            </a:r>
          </a:p>
        </p:txBody>
      </p:sp>
    </p:spTree>
    <p:extLst>
      <p:ext uri="{BB962C8B-B14F-4D97-AF65-F5344CB8AC3E}">
        <p14:creationId xmlns:p14="http://schemas.microsoft.com/office/powerpoint/2010/main" val="203725001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21FC6C-CF83-1539-B6E8-DE6C44385F8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212CD7-FC8F-2599-B8EB-E9F423FC8D1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>
                <a:solidFill>
                  <a:srgbClr val="000000"/>
                </a:solidFill>
              </a:rPr>
              <a:t>Which link function(s) would make Hierarchical clustering well suited for the following dataset?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BA85BF-557A-FB04-716A-B88D78058748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963DB64-C052-5068-3616-63547B4A80DC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8E0F764F-40DF-7920-5997-A0EB5EF9D553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47AB90A-E1BD-2831-8354-5EFCB4D2EDAF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3488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8835CB-3177-F245-DF74-51339A07218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0022B8-5ADC-B1D7-985B-8200A308D1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Which clusters get merged if using Euclidean and complete-link distance?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A8008F-5090-27C7-5D9A-D8646365E1DA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1758046-4218-C7BC-F71B-9C0B3F5C750F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96099AD9-C6D7-3F54-ABF3-2B4220F84393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9DC37C5-33BD-7B31-3357-4402AB144ED3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19850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5DEFCD-4E1A-5DD4-A688-25F85944441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3E88BB-D186-FAB4-64C0-3C18EC7A1CB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Using Euclidean and complete-link distance for {A = (1,2), B = (3,5), C = (4,1), D = (7,3), E = (6,6)} what is the merging order?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85B872-7519-D0FD-BC2E-2761F7482D6F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96236C0-608A-06CB-CD0E-ED6D0FD59A97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A08E26DC-9523-6DA4-677E-A71CD9B58184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BD86D71-DCEC-86D5-12DD-FCE4365AF303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69596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2971D0A-A0AF-189E-7338-A75E515434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5878242"/>
                  </p:ext>
                </p:extLst>
              </p:nvPr>
            </p:nvGraphicFramePr>
            <p:xfrm>
              <a:off x="1547150" y="30459"/>
              <a:ext cx="6096000" cy="5143144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64735821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68678049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386922"/>
                        </a:ext>
                      </a:extLst>
                    </a:gridCol>
                  </a:tblGrid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1380484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baseline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baseline="0" dirty="0"/>
                        </a:p>
                        <a:p>
                          <a:pPr algn="ctr"/>
                          <a:endParaRPr lang="en-US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29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132615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608166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29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83574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2971D0A-A0AF-189E-7338-A75E515434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5878242"/>
                  </p:ext>
                </p:extLst>
              </p:nvPr>
            </p:nvGraphicFramePr>
            <p:xfrm>
              <a:off x="1547150" y="30459"/>
              <a:ext cx="6096000" cy="5143144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64735821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68678049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386922"/>
                        </a:ext>
                      </a:extLst>
                    </a:gridCol>
                  </a:tblGrid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1380484"/>
                      </a:ext>
                    </a:extLst>
                  </a:tr>
                  <a:tr h="97002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235" t="-84416" r="-303704" b="-353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5000" t="-84416" r="-207500" b="-353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5000" t="-84416" r="-107500" b="-353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5000" t="-84416" r="-7500" b="-353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97002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3750" t="-186842" r="-408750" b="-25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5000" t="-186842" r="-207500" b="-25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5000" t="-186842" r="-107500" b="-25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5000" t="-186842" r="-7500" b="-25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3750" t="-340625" r="-408750" b="-2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235" t="-340625" r="-303704" b="-2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5000" t="-340625" r="-107500" b="-2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5000" t="-340625" r="-7500" b="-2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132615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3750" t="-447619" r="-408750" b="-1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235" t="-447619" r="-303704" b="-1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5000" t="-447619" r="-207500" b="-1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5000" t="-447619" r="-7500" b="-1095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608166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3750" t="-547619" r="-408750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235" t="-547619" r="-303704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5000" t="-547619" r="-207500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5000" t="-547619" r="-107500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83574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8872353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D4869-3D8C-E6B7-9DB7-32BE3F713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7232FAE-0CD1-A69B-FC36-00A2230833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8238627"/>
                  </p:ext>
                </p:extLst>
              </p:nvPr>
            </p:nvGraphicFramePr>
            <p:xfrm>
              <a:off x="2032000" y="166784"/>
              <a:ext cx="5080000" cy="4809932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64735821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686780490"/>
                        </a:ext>
                      </a:extLst>
                    </a:gridCol>
                  </a:tblGrid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aseline="0" dirty="0"/>
                        </a:p>
                        <a:p>
                          <a:pPr algn="ctr"/>
                          <a:r>
                            <a:rPr lang="en-US" baseline="0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872813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baseline="0" smtClean="0">
                                        <a:latin typeface="Cambria Math" panose="02040503050406030204" pitchFamily="18" charset="0"/>
                                      </a:rPr>
                                      <m:t>37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baseline="0" dirty="0"/>
                        </a:p>
                        <a:p>
                          <a:pPr algn="ctr"/>
                          <a:endParaRPr lang="en-US" b="0" baseline="0" dirty="0"/>
                        </a:p>
                        <a:p>
                          <a:pPr algn="ctr"/>
                          <a:endParaRPr lang="en-US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608166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83574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7232FAE-0CD1-A69B-FC36-00A2230833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8238627"/>
                  </p:ext>
                </p:extLst>
              </p:nvPr>
            </p:nvGraphicFramePr>
            <p:xfrm>
              <a:off x="2032000" y="166784"/>
              <a:ext cx="5080000" cy="4809932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64735821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686780490"/>
                        </a:ext>
                      </a:extLst>
                    </a:gridCol>
                  </a:tblGrid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aseline="0" dirty="0"/>
                        </a:p>
                        <a:p>
                          <a:pPr algn="ctr"/>
                          <a:r>
                            <a:rPr lang="en-US" baseline="0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872813"/>
                      </a:ext>
                    </a:extLst>
                  </a:tr>
                  <a:tr h="97002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000" t="-100000" r="-207500" b="-3025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100000" r="-107500" b="-3025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5000" t="-100000" r="-7500" b="-3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97002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000" t="-202632" r="-307500" b="-206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202632" r="-107500" b="-206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5000" t="-202632" r="-7500" b="-2065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000" t="-306667" r="-30750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000" t="-306667" r="-20750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5000" t="-306667" r="-7500" b="-10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608166"/>
                      </a:ext>
                    </a:extLst>
                  </a:tr>
                  <a:tr h="97002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000" t="-401316" r="-307500" b="-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000" t="-401316" r="-207500" b="-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401316" r="-107500" b="-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83574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1786857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AD067-94A4-5BDD-A99E-E0DDBB350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568FC98-9268-8D94-70BA-D4E83DCE97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2522339"/>
                  </p:ext>
                </p:extLst>
              </p:nvPr>
            </p:nvGraphicFramePr>
            <p:xfrm>
              <a:off x="2540000" y="723850"/>
              <a:ext cx="4064000" cy="3909159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647358218"/>
                        </a:ext>
                      </a:extLst>
                    </a:gridCol>
                  </a:tblGrid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aseline="0" dirty="0"/>
                        </a:p>
                        <a:p>
                          <a:pPr algn="ctr"/>
                          <a:r>
                            <a:rPr lang="en-US" baseline="0" dirty="0"/>
                            <a:t>DE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872813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baseline="0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baseline="0" dirty="0"/>
                        </a:p>
                        <a:p>
                          <a:pPr algn="ctr"/>
                          <a:endParaRPr lang="en-US" b="0" baseline="0" dirty="0"/>
                        </a:p>
                        <a:p>
                          <a:pPr algn="ctr"/>
                          <a:endParaRPr lang="en-US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6081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568FC98-9268-8D94-70BA-D4E83DCE97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2522339"/>
                  </p:ext>
                </p:extLst>
              </p:nvPr>
            </p:nvGraphicFramePr>
            <p:xfrm>
              <a:off x="2540000" y="723850"/>
              <a:ext cx="4064000" cy="3909159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647358218"/>
                        </a:ext>
                      </a:extLst>
                    </a:gridCol>
                  </a:tblGrid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aseline="0" dirty="0"/>
                        </a:p>
                        <a:p>
                          <a:pPr algn="ctr"/>
                          <a:r>
                            <a:rPr lang="en-US" baseline="0" dirty="0"/>
                            <a:t>DE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872813"/>
                      </a:ext>
                    </a:extLst>
                  </a:tr>
                  <a:tr h="97002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000" t="-98701" r="-107500" b="-211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98701" r="-7500" b="-2116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118338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000" t="-162766" r="-207500" b="-734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162766" r="-7500" b="-734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000" t="-392063" r="-207500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000" t="-392063" r="-107500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60816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648660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18124-A7FA-3381-1B12-FE5134B64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C0358AA-542E-61EB-93BE-4082AA5E48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7229991"/>
                  </p:ext>
                </p:extLst>
              </p:nvPr>
            </p:nvGraphicFramePr>
            <p:xfrm>
              <a:off x="3048000" y="1139289"/>
              <a:ext cx="3048000" cy="2879974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</a:tblGrid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ABC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872813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ABC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C0358AA-542E-61EB-93BE-4082AA5E48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7229991"/>
                  </p:ext>
                </p:extLst>
              </p:nvPr>
            </p:nvGraphicFramePr>
            <p:xfrm>
              <a:off x="3048000" y="1139289"/>
              <a:ext cx="3048000" cy="2879974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</a:tblGrid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ABC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872813"/>
                      </a:ext>
                    </a:extLst>
                  </a:tr>
                  <a:tr h="97002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ABC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000" t="-102632" r="-7500" b="-1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000" t="-202632" r="-107500" b="-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2493811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2F0EE-276C-F7FB-6D66-07162D296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20400"/>
            <a:ext cx="8520600" cy="3302700"/>
          </a:xfrm>
        </p:spPr>
        <p:txBody>
          <a:bodyPr/>
          <a:lstStyle/>
          <a:p>
            <a:pPr marL="114300" indent="0" algn="ctr">
              <a:buNone/>
            </a:pPr>
            <a:endParaRPr lang="en-US" dirty="0"/>
          </a:p>
          <a:p>
            <a:pPr marL="114300" indent="0" algn="ctr">
              <a:buNone/>
            </a:pPr>
            <a:endParaRPr lang="en-US" dirty="0"/>
          </a:p>
          <a:p>
            <a:pPr marL="114300" indent="0" algn="ctr">
              <a:buNone/>
            </a:pPr>
            <a:endParaRPr lang="en-US" dirty="0"/>
          </a:p>
          <a:p>
            <a:pPr marL="114300" indent="0" algn="ctr">
              <a:buNone/>
            </a:pPr>
            <a:endParaRPr lang="en-US" dirty="0"/>
          </a:p>
          <a:p>
            <a:pPr marL="114300" indent="0" algn="ctr">
              <a:buNone/>
            </a:pPr>
            <a:r>
              <a:rPr lang="en-US" sz="4400" dirty="0">
                <a:latin typeface="Charmonman" pitchFamily="2" charset="-34"/>
                <a:cs typeface="Charmonman" pitchFamily="2" charset="-34"/>
              </a:rPr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11186103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7115bc2d-bdfb-4e8c-aea1-f1124296bc5f"/>
  <p:tag name="SLIDO_EVENT_UUID" val="534208b2-4024-45f6-a9bb-71ed7703de45"/>
  <p:tag name="SLIDO_EVENT_SECTION_UUID" val="c92f6a93-81d3-4e3f-98ce-a43ba5e48bb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79326bb1-6dd7-404b-9dd0-36fef125ba41"/>
  <p:tag name="SLIDO_TIMELINE" val="W3sic2hvd1Jlc3VsdHMiOmZhbHNlLCJwb2xsUXVlc3Rpb25VdWlkIjoiNDNlNDE3NjItMDM5Yi00ZjMxLTkzZmYtMDczMmY0NjNlOWQxIiwic2hvd0NvcnJlY3RBbnN3ZXJzIjpmYWxzZX0seyJzaG93UmVzdWx0cyI6dHJ1ZSwicG9sbFF1ZXN0aW9uVXVpZCI6IjQzZTQxNzYyLTAzOWItNGYzMS05M2ZmLTA3MzJmNDYzZTlkMSIsInNob3dDb3JyZWN0QW5zd2VycyI6dHJ1ZX1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9e6dfd16-7319-43b2-869f-5a65030b9439"/>
  <p:tag name="SLIDO_TIMELINE" val="W3sic2hvd0NvcnJlY3RBbnN3ZXJzIjpmYWxzZSwicG9sbFF1ZXN0aW9uVXVpZCI6ImRhMTIzODU3LThjMDQtNDczOS1iNjQ2LTE0ODNjNGJiOTAxOSIsInNob3dSZXN1bHRzIjpmYWxzZX0seyJzaG93Q29ycmVjdEFuc3dlcnMiOnRydWUsInBvbGxRdWVzdGlvblV1aWQiOiJkYTEyMzg1Ny04YzA0LTQ3MzktYjY0Ni0xNDgzYzRiYjkwMTkiLCJzaG93UmVzdWx0cyI6dHJ1ZX1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3cd780cb-b9f7-45c4-ad20-50c4e2b29ccc"/>
  <p:tag name="SLIDO_TIMELINE" val="W3sic2hvd0NvcnJlY3RBbnN3ZXJzIjpmYWxzZSwicG9sbFF1ZXN0aW9uVXVpZCI6IjU3NmUyNDA4LTkxZjctNGE5My1hZDY4LTY4ZDJhYjc5M2ZmYSIsInNob3dSZXN1bHRzIjpmYWxzZX0seyJzaG93Q29ycmVjdEFuc3dlcnMiOnRydWUsInBvbGxRdWVzdGlvblV1aWQiOiI1NzZlMjQwOC05MWY3LTRhOTMtYWQ2OC02OGQyYWI3OTNmZmEiLCJzaG93UmVzdWx0cyI6dHJ1ZX1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7f2f8643-a81a-4a5f-8e5e-320d120385e5"/>
  <p:tag name="SLIDO_TIMELINE" val="W3sic2hvd0NvcnJlY3RBbnN3ZXJzIjpmYWxzZSwicG9sbFF1ZXN0aW9uVXVpZCI6IjAwMDdlN2RhLTYzZTMtNDQ2ZS1iMTMyLWJhMjE0M2IxZjRiMiIsInNob3dSZXN1bHRzIjpmYWxzZX0seyJzaG93Q29ycmVjdEFuc3dlcnMiOnRydWUsInBvbGxRdWVzdGlvblV1aWQiOiIwMDA3ZTdkYS02M2UzLTQ0NmUtYjEzMi1iYTIxNDNiMWY0YjIiLCJzaG93UmVzdWx0cyI6dHJ1ZX1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24c6f6b8-bce9-484a-8094-90a1c2123cba"/>
  <p:tag name="SLIDO_TIMELINE" val="W3sicG9sbFF1ZXN0aW9uVXVpZCI6IjllN2VlNzg4LTY3MWUtNDIxMi04NWIxLTc4YzY1MTU1NTg3ZiIsInNob3dDb3JyZWN0QW5zd2VycyI6ZmFsc2UsInNob3dSZXN1bHRzIjpmYWxzZX0seyJwb2xsUXVlc3Rpb25VdWlkIjoiOWU3ZWU3ODgtNjcxZS00MjEyLTg1YjEtNzhjNjUxNTU1ODdmIiwic2hvd0NvcnJlY3RBbnN3ZXJzIjp0cnVlLCJzaG93UmVzdWx0cyI6dHJ1ZX1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da7ab61d-7a8b-4ce0-9560-f67d184b0525"/>
  <p:tag name="SLIDO_TIMELINE" val="W3sicG9sbFF1ZXN0aW9uVXVpZCI6IjY3OWE0NGZkLTIyNWItNGVhMi1iNjkxLTBhNWQ2OGVhNDY0MSIsInNob3dSZXN1bHRzIjpmYWxzZSwic2hvd0NvcnJlY3RBbnN3ZXJzIjpmYWxzZX0seyJwb2xsUXVlc3Rpb25VdWlkIjoiNjc5YTQ0ZmQtMjI1Yi00ZWEyLWI2OTEtMGE1ZDY4ZWE0NjQxIiwic2hvd1Jlc3VsdHMiOnRydWUsInNob3dDb3JyZWN0QW5zd2VycyI6dHJ1ZX1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85f82931-a572-4626-9ef9-fd21cd1da27c"/>
  <p:tag name="SLIDO_TIMELINE" val="W3sic2hvd0NvcnJlY3RBbnN3ZXJzIjpmYWxzZSwicG9sbFF1ZXN0aW9uVXVpZCI6ImM1ODdmNWFhLWIxODYtNDQ4MS05NjcyLTMzOTg0ZWM3ZTRkYyIsInNob3dSZXN1bHRzIjpmYWxzZX0seyJzaG93Q29ycmVjdEFuc3dlcnMiOnRydWUsInBvbGxRdWVzdGlvblV1aWQiOiJjNTg3ZjVhYS1iMTg2LTQ0ODEtOTY3Mi0zMzk4NGVjN2U0ZGMiLCJzaG93UmVzdWx0cyI6dHJ1ZX1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e94afd03-9cd4-4b7b-b39b-ff85a6c862a1"/>
  <p:tag name="SLIDO_TIMELINE" val="W3sicG9sbFF1ZXN0aW9uVXVpZCI6IjE4ZDg0ZjM4LWJjNDYtNGU3My05NDgxLWVjZmRkZGZiMWE2NyIsInNob3dSZXN1bHRzIjpmYWxzZSwic2hvd0NvcnJlY3RBbnN3ZXJzIjpmYWxzZX0seyJwb2xsUXVlc3Rpb25VdWlkIjoiMThkODRmMzgtYmM0Ni00ZTczLTk0ODEtZWNmZGRkZmIxYTY3Iiwic2hvd1Jlc3VsdHMiOnRydWUsInNob3dDb3JyZWN0QW5zd2VycyI6dHJ1ZX1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30c5db8b-2417-4bd6-83ea-221e7007dac7"/>
  <p:tag name="SLIDO_TIMELINE" val="W3sic2hvd1Jlc3VsdHMiOmZhbHNlLCJwb2xsUXVlc3Rpb25VdWlkIjoiMmU4ZTljM2YtZGY5Ni00NmQ1LThkYTMtMGQyYTFhOTMyNjczIiwic2hvd0NvcnJlY3RBbnN3ZXJzIjpmYWxzZX0seyJzaG93UmVzdWx0cyI6dHJ1ZSwicG9sbFF1ZXN0aW9uVXVpZCI6IjJlOGU5YzNmLWRmOTYtNDZkNS04ZGEzLTBkMmExYTkzMjY3MyIsInNob3dDb3JyZWN0QW5zd2VycyI6dHJ1ZX1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4746e9c2-122c-46d3-b91a-4dae52d142be"/>
  <p:tag name="SLIDO_TIMELINE" val="W3sic2hvd1Jlc3VsdHMiOmZhbHNlLCJzaG93Q29ycmVjdEFuc3dlcnMiOmZhbHNlLCJwb2xsUXVlc3Rpb25VdWlkIjoiYTYwOTAyMWItMjEwMi00ODBjLTg1YWQtNzI3Mzg1MWUyNGU0In0seyJzaG93UmVzdWx0cyI6dHJ1ZSwic2hvd0NvcnJlY3RBbnN3ZXJzIjp0cnVlLCJwb2xsUXVlc3Rpb25VdWlkIjoiYTYwOTAyMWItMjEwMi00ODBjLTg1YWQtNzI3Mzg1MWUyNGU0In1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fab71806-1c3a-4aa3-a2f3-3c20a9653cfd"/>
  <p:tag name="SLIDO_TIMELINE" val="W3sicG9sbFF1ZXN0aW9uVXVpZCI6ImMyZDQ4YmQ2LTVlYTYtNDVmMi1iNGExLTNiMjhkNjc1Yzg1YyIsInNob3dDb3JyZWN0QW5zd2VycyI6ZmFsc2UsInNob3dSZXN1bHRzIjpmYWxzZX0seyJwb2xsUXVlc3Rpb25VdWlkIjoiYzJkNDhiZDYtNWVhNi00NWYyLWI0YTEtM2IyOGQ2NzVjODVjIiwic2hvd0NvcnJlY3RBbnN3ZXJzIjp0cnVlLCJzaG93UmVzdWx0cyI6dHJ1ZX1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3d055d21-276b-490f-b21a-a23751fa73b5"/>
  <p:tag name="SLIDO_TIMELINE" val="W3sic2hvd0NvcnJlY3RBbnN3ZXJzIjpmYWxzZSwicG9sbFF1ZXN0aW9uVXVpZCI6IjE5MTc3MTU4LTQ4YzYtNDc1ZS1hNzA4LWY1NzBiMTJkOGRlOCIsInNob3dSZXN1bHRzIjpmYWxzZX0seyJzaG93Q29ycmVjdEFuc3dlcnMiOnRydWUsInBvbGxRdWVzdGlvblV1aWQiOiIxOTE3NzE1OC00OGM2LTQ3NWUtYTcwOC1mNTcwYjEyZDhkZTgiLCJzaG93UmVzdWx0cyI6dHJ1ZX1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3405</TotalTime>
  <Words>3378</Words>
  <Application>Microsoft Macintosh PowerPoint</Application>
  <PresentationFormat>On-screen Show (16:9)</PresentationFormat>
  <Paragraphs>715</Paragraphs>
  <Slides>101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8" baseType="lpstr">
      <vt:lpstr>Cambria Math</vt:lpstr>
      <vt:lpstr>Wingdings</vt:lpstr>
      <vt:lpstr>Open Sans</vt:lpstr>
      <vt:lpstr>Charmonman</vt:lpstr>
      <vt:lpstr>PT Sans Narrow</vt:lpstr>
      <vt:lpstr>Arial</vt:lpstr>
      <vt:lpstr>Tropic</vt:lpstr>
      <vt:lpstr>Lab 4 - K-means++ and Hierarchical Clustering</vt:lpstr>
      <vt:lpstr>PowerPoint Presentation</vt:lpstr>
      <vt:lpstr>Recall: K-means++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would the lowest cost be?</vt:lpstr>
      <vt:lpstr>What would the lowest cost be?</vt:lpstr>
      <vt:lpstr>PowerPoint Presentation</vt:lpstr>
      <vt:lpstr>Is this trivial?</vt:lpstr>
      <vt:lpstr>Is this trivial?</vt:lpstr>
      <vt:lpstr>Is this trivial?</vt:lpstr>
      <vt:lpstr>Is this trivial?</vt:lpstr>
      <vt:lpstr>Recall: methods for finding the optimal k</vt:lpstr>
      <vt:lpstr>Recall: methods for finding the optimal k</vt:lpstr>
      <vt:lpstr>Recall: methods for finding the optimal k</vt:lpstr>
      <vt:lpstr>Recall: methods for finding the optimal k</vt:lpstr>
      <vt:lpstr>Recall: silhouette scores!</vt:lpstr>
      <vt:lpstr>PowerPoint Presentation</vt:lpstr>
      <vt:lpstr>PowerPoint Presentation</vt:lpstr>
      <vt:lpstr>PowerPoint Presentation</vt:lpstr>
      <vt:lpstr>How to interpret the silhouette score?</vt:lpstr>
      <vt:lpstr>How to interpret the silhouette score?</vt:lpstr>
      <vt:lpstr>PowerPoint Presentation</vt:lpstr>
      <vt:lpstr>Interpreting silhouette scores</vt:lpstr>
      <vt:lpstr>Interpreting silhouette scores</vt:lpstr>
      <vt:lpstr>Interpreting silhouette scores</vt:lpstr>
      <vt:lpstr>Interpreting silhouette scores</vt:lpstr>
      <vt:lpstr>Interpreting silhouette scores</vt:lpstr>
      <vt:lpstr>Interpreting silhouette scores</vt:lpstr>
      <vt:lpstr>Interpreting silhouette scores</vt:lpstr>
      <vt:lpstr>Silhouette Score Plots</vt:lpstr>
      <vt:lpstr>Silhouette Score Plots: Interpretation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Solution</vt:lpstr>
      <vt:lpstr>Solution</vt:lpstr>
      <vt:lpstr>Solution</vt:lpstr>
      <vt:lpstr>Solution</vt:lpstr>
      <vt:lpstr>Solution</vt:lpstr>
      <vt:lpstr>PowerPoint Presentation</vt:lpstr>
      <vt:lpstr>PowerPoint Presentation</vt:lpstr>
      <vt:lpstr>Why does K-means fail on the original dataset?</vt:lpstr>
      <vt:lpstr>Why does K-means fail on the original dataset?</vt:lpstr>
      <vt:lpstr>Why does K-means fail on the original dataset?</vt:lpstr>
      <vt:lpstr>Why does K-means fail on the original dataset?</vt:lpstr>
      <vt:lpstr>Interpreting the transformation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Visualizing the transformation</vt:lpstr>
      <vt:lpstr>Expanding our data science toolkit!</vt:lpstr>
      <vt:lpstr>Expanding our data science toolkit!</vt:lpstr>
      <vt:lpstr>Expanding our data science toolkit!</vt:lpstr>
      <vt:lpstr>Expanding our data science toolkit!</vt:lpstr>
      <vt:lpstr>Expanding our data science toolkit!</vt:lpstr>
      <vt:lpstr>Expanding our data science toolkit!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Recall: link functions</vt:lpstr>
      <vt:lpstr>Recall: link functions</vt:lpstr>
      <vt:lpstr>Recall: link functions</vt:lpstr>
      <vt:lpstr>Recall: link functions</vt:lpstr>
      <vt:lpstr>Recall: link functions</vt:lpstr>
      <vt:lpstr>Recall: link functions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Gattupalli, Eeshwar</cp:lastModifiedBy>
  <cp:revision>17</cp:revision>
  <dcterms:modified xsi:type="dcterms:W3CDTF">2026-02-19T02:21:56Z</dcterms:modified>
</cp:coreProperties>
</file>